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1" r:id="rId2"/>
    <p:sldId id="2564" r:id="rId3"/>
    <p:sldId id="2586" r:id="rId4"/>
    <p:sldId id="2568" r:id="rId5"/>
    <p:sldId id="2584" r:id="rId6"/>
    <p:sldId id="2585" r:id="rId7"/>
    <p:sldId id="2572" r:id="rId8"/>
    <p:sldId id="2575" r:id="rId9"/>
    <p:sldId id="2587" r:id="rId10"/>
    <p:sldId id="2580" r:id="rId11"/>
    <p:sldId id="25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u" id="{B50DCCF3-2126-4159-A10A-ABBB1BD16A22}">
          <p14:sldIdLst>
            <p14:sldId id="2561"/>
          </p14:sldIdLst>
        </p14:section>
        <p14:section name="Status curent" id="{A468DF59-0A87-411A-94FA-785FC75CDC6F}">
          <p14:sldIdLst>
            <p14:sldId id="2564"/>
            <p14:sldId id="2586"/>
          </p14:sldIdLst>
        </p14:section>
        <p14:section name="Exemple" id="{506D0437-CB34-43AE-9AC4-BB2ABEEC5240}">
          <p14:sldIdLst>
            <p14:sldId id="2568"/>
            <p14:sldId id="2584"/>
            <p14:sldId id="2585"/>
          </p14:sldIdLst>
        </p14:section>
        <p14:section name="Quality Metrics Using SonarQube" id="{8C54E7E5-4736-4532-B0AF-F1A3E95739C1}">
          <p14:sldIdLst>
            <p14:sldId id="2572"/>
          </p14:sldIdLst>
        </p14:section>
        <p14:section name="UI exemple" id="{5D6A0E4B-2AFE-4867-86A3-2267F87F2878}">
          <p14:sldIdLst>
            <p14:sldId id="2575"/>
            <p14:sldId id="2587"/>
          </p14:sldIdLst>
        </p14:section>
        <p14:section name="Team Contributions and Roles" id="{F936C4D4-D821-4DB7-9FD2-9B7CBDE0E2C0}">
          <p14:sldIdLst>
            <p14:sldId id="2580"/>
          </p14:sldIdLst>
        </p14:section>
        <p14:section name="Conclusion: Building a Strong Foundation for Future Enhancements" id="{C614F002-799D-4033-BD83-927A30F33F82}">
          <p14:sldIdLst>
            <p14:sldId id="25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C9672-787B-4221-BEA6-C4A6FCCF081F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7E109-BEE9-44AE-9ADD-6395D3B540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83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11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055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5830E-E395-CC48-0639-EB21AC05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BEBD0-E846-A9D0-C330-2603FB6AE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B8EB1-B63A-5BF6-99DB-6161B90D0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955EE-7647-6349-C699-D2E84D72F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528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211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DB3D-CD94-6E47-41A0-995C0433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7CE36-05CA-D49E-A19A-A9A0F01AD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42EB2-37EA-1DF5-8648-8826B7246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FE92A-0F36-3BE2-F3A7-D7ABFD051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913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4811-C5CA-546E-8C01-3B908196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A597D-18A1-7231-E981-C5E39A07B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EC1B6-247F-C7D1-A876-E1D898186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C17E2-1E14-3303-60DD-33C0D7A32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0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83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902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260C-5F94-27D0-9D8F-9D8D0FAD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44130-81FC-DB7D-5E7F-FCAE855F9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39657-60DF-E1A5-A03A-F9EEB5152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0D6D0-777A-E268-9866-1B121ECA9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798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058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35654-BF84-49CA-A20F-0BFC1E59E59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53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257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097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5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33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03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4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971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30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534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21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64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395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76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7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7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644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682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64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282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89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93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46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90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52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00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3100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64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9936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6063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5523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518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8084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7585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190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234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9165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66244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99019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22076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14615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57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47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162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69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33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0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E7FE-8C34-4ECC-3DF9-4AB54C67E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programari</a:t>
            </a:r>
            <a:r>
              <a:rPr lang="en-US" sz="3600" dirty="0"/>
              <a:t> </a:t>
            </a:r>
            <a:r>
              <a:rPr lang="en-US" sz="3600" dirty="0" err="1"/>
              <a:t>ghișeu</a:t>
            </a:r>
            <a:r>
              <a:rPr lang="en-US" sz="3600" dirty="0"/>
              <a:t> – MILESTONE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7DC78-E95D-36D8-37B4-954F760F5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9620504" cy="1414091"/>
          </a:xfrm>
        </p:spPr>
        <p:txBody>
          <a:bodyPr>
            <a:noAutofit/>
          </a:bodyPr>
          <a:lstStyle/>
          <a:p>
            <a:r>
              <a:rPr lang="en-US" sz="1200" dirty="0"/>
              <a:t>SASPS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Mihalcea Marius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Lebada</a:t>
            </a:r>
            <a:r>
              <a:rPr lang="en-US" sz="1200" dirty="0"/>
              <a:t> Daria-Cristiana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Dragomir Andrei-Mihai</a:t>
            </a:r>
          </a:p>
          <a:p>
            <a:br>
              <a:rPr lang="en-US" sz="1200" dirty="0"/>
            </a:br>
            <a:endParaRPr lang="en-GB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A6946-5301-9D71-C6E1-BE960FCE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4EF954-66B1-4168-AF40-97F3DAF43FC4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D028-EBE7-D999-830F-695590AF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9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0BE5-5AD4-ED9A-8847-2DE6F6B50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 b="0" kern="1200" cap="all" baseline="0" dirty="0">
                <a:latin typeface="+mj-lt"/>
                <a:ea typeface="+mj-ea"/>
                <a:cs typeface="+mj-cs"/>
              </a:rPr>
              <a:t>Status </a:t>
            </a:r>
            <a:r>
              <a:rPr lang="en-US" sz="2700" b="0" kern="1200" cap="all" baseline="0" dirty="0" err="1">
                <a:latin typeface="+mj-lt"/>
                <a:ea typeface="+mj-ea"/>
                <a:cs typeface="+mj-cs"/>
              </a:rPr>
              <a:t>curent</a:t>
            </a:r>
            <a:endParaRPr lang="en-US" sz="2700" b="0" kern="1200" cap="all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bstract illustration of software architecture, code patterns, and collaboration among developers">
            <a:extLst>
              <a:ext uri="{FF2B5EF4-FFF2-40B4-BE49-F238E27FC236}">
                <a16:creationId xmlns:a16="http://schemas.microsoft.com/office/drawing/2014/main" id="{AFF56C43-4D61-4E13-91AE-72D6607E7B6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0067" r="2646" b="3"/>
          <a:stretch>
            <a:fillRect/>
          </a:stretch>
        </p:blipFill>
        <p:spPr>
          <a:xfrm>
            <a:off x="20" y="2293496"/>
            <a:ext cx="5285212" cy="456450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495C17-1007-48CE-AFBD-88BCC18859A1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b="1" dirty="0" err="1"/>
              <a:t>Implementare</a:t>
            </a:r>
            <a:r>
              <a:rPr lang="en-GB" b="1" dirty="0"/>
              <a:t> de </a:t>
            </a:r>
            <a:r>
              <a:rPr lang="en-GB" b="1" dirty="0" err="1"/>
              <a:t>bază</a:t>
            </a:r>
            <a:r>
              <a:rPr lang="en-GB" b="1" dirty="0"/>
              <a:t> cu </a:t>
            </a:r>
            <a:r>
              <a:rPr lang="en-GB" b="1" dirty="0" err="1"/>
              <a:t>controllere</a:t>
            </a:r>
            <a:r>
              <a:rPr lang="en-GB" b="1" dirty="0"/>
              <a:t> </a:t>
            </a:r>
            <a:r>
              <a:rPr lang="en-GB" b="1" dirty="0" err="1"/>
              <a:t>pentru</a:t>
            </a:r>
            <a:r>
              <a:rPr lang="en-GB" b="1" dirty="0"/>
              <a:t>: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AppointmentController</a:t>
            </a:r>
            <a:endParaRPr lang="en-GB" b="1" dirty="0"/>
          </a:p>
          <a:p>
            <a:r>
              <a:rPr lang="en-GB" dirty="0" err="1"/>
              <a:t>Creare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gestionare</a:t>
            </a:r>
            <a:r>
              <a:rPr lang="en-GB" dirty="0"/>
              <a:t> </a:t>
            </a:r>
            <a:r>
              <a:rPr lang="en-GB" dirty="0" err="1"/>
              <a:t>programări</a:t>
            </a:r>
            <a:endParaRPr lang="en-GB" dirty="0"/>
          </a:p>
          <a:p>
            <a:r>
              <a:rPr lang="en-GB" dirty="0" err="1"/>
              <a:t>Verificare</a:t>
            </a:r>
            <a:r>
              <a:rPr lang="en-GB" dirty="0"/>
              <a:t> </a:t>
            </a:r>
            <a:r>
              <a:rPr lang="en-GB" dirty="0" err="1"/>
              <a:t>disponibilitate</a:t>
            </a:r>
            <a:endParaRPr lang="en-GB" dirty="0"/>
          </a:p>
          <a:p>
            <a:r>
              <a:rPr lang="en-GB" dirty="0" err="1"/>
              <a:t>Statistici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raportare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InstitutionController</a:t>
            </a:r>
            <a:endParaRPr lang="en-GB" b="1" dirty="0"/>
          </a:p>
          <a:p>
            <a:r>
              <a:rPr lang="en-GB" dirty="0"/>
              <a:t>CRUD </a:t>
            </a:r>
            <a:r>
              <a:rPr lang="en-GB" dirty="0" err="1"/>
              <a:t>operații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instituții</a:t>
            </a:r>
            <a:endParaRPr lang="en-GB" dirty="0"/>
          </a:p>
          <a:p>
            <a:r>
              <a:rPr lang="en-GB" dirty="0" err="1"/>
              <a:t>Gestionare</a:t>
            </a:r>
            <a:r>
              <a:rPr lang="en-GB" dirty="0"/>
              <a:t> </a:t>
            </a:r>
            <a:r>
              <a:rPr lang="en-GB" dirty="0" err="1"/>
              <a:t>tipuri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/>
              <a:t>UserController</a:t>
            </a:r>
            <a:endParaRPr lang="en-GB" b="1" dirty="0"/>
          </a:p>
          <a:p>
            <a:r>
              <a:rPr lang="en-GB" dirty="0" err="1"/>
              <a:t>Înregistrare</a:t>
            </a:r>
            <a:r>
              <a:rPr lang="en-GB" dirty="0"/>
              <a:t> </a:t>
            </a:r>
            <a:r>
              <a:rPr lang="en-GB" dirty="0" err="1"/>
              <a:t>și</a:t>
            </a:r>
            <a:r>
              <a:rPr lang="en-GB" dirty="0"/>
              <a:t> </a:t>
            </a:r>
            <a:r>
              <a:rPr lang="en-GB" dirty="0" err="1"/>
              <a:t>gestionare</a:t>
            </a:r>
            <a:r>
              <a:rPr lang="en-GB" dirty="0"/>
              <a:t> </a:t>
            </a:r>
            <a:r>
              <a:rPr lang="en-GB" dirty="0" err="1"/>
              <a:t>utilizatori</a:t>
            </a:r>
            <a:endParaRPr lang="en-GB" dirty="0"/>
          </a:p>
          <a:p>
            <a:r>
              <a:rPr lang="en-GB" dirty="0" err="1"/>
              <a:t>Istoric</a:t>
            </a:r>
            <a:r>
              <a:rPr lang="en-GB" dirty="0"/>
              <a:t> </a:t>
            </a:r>
            <a:r>
              <a:rPr lang="en-GB" dirty="0" err="1"/>
              <a:t>programări</a:t>
            </a:r>
            <a:r>
              <a:rPr lang="en-GB" dirty="0"/>
              <a:t> per client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A447-3EFB-D6EE-25F7-A4D44ECC4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AE37-D6B8-D189-654F-EEBC76FE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445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A829-5A2E-085C-239D-31835728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7B7D-9A4B-B788-9AF0-222F6E13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 b="0" kern="1200" cap="all" baseline="0" dirty="0">
                <a:latin typeface="+mj-lt"/>
                <a:ea typeface="+mj-ea"/>
                <a:cs typeface="+mj-cs"/>
              </a:rPr>
              <a:t>Status </a:t>
            </a:r>
            <a:r>
              <a:rPr lang="en-US" sz="2700" b="0" kern="1200" cap="all" baseline="0" dirty="0" err="1">
                <a:latin typeface="+mj-lt"/>
                <a:ea typeface="+mj-ea"/>
                <a:cs typeface="+mj-cs"/>
              </a:rPr>
              <a:t>curent</a:t>
            </a:r>
            <a:endParaRPr lang="en-US" sz="2700" b="0" kern="1200" cap="all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bstract illustration of software architecture, code patterns, and collaboration among developers">
            <a:extLst>
              <a:ext uri="{FF2B5EF4-FFF2-40B4-BE49-F238E27FC236}">
                <a16:creationId xmlns:a16="http://schemas.microsoft.com/office/drawing/2014/main" id="{CC69DE8A-6C5D-FD3E-2AFE-D281412BB40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0067" r="2646" b="3"/>
          <a:stretch>
            <a:fillRect/>
          </a:stretch>
        </p:blipFill>
        <p:spPr>
          <a:xfrm>
            <a:off x="20" y="2293496"/>
            <a:ext cx="5285212" cy="456450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4B0079-E929-813F-30D3-7A855B9AF2E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708592" y="549275"/>
            <a:ext cx="6195700" cy="578326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GB" b="1" dirty="0"/>
          </a:p>
          <a:p>
            <a:r>
              <a:rPr lang="en-GB" b="1" dirty="0"/>
              <a:t>PostgreSQL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Persistență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robustă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pentru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programări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și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utilizatori</a:t>
            </a:r>
            <a:endParaRPr lang="en-GB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Relații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între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entități</a:t>
            </a:r>
            <a:r>
              <a:rPr lang="en-GB" dirty="0">
                <a:effectLst/>
              </a:rPr>
              <a:t> (User - Appointment - Institution)</a:t>
            </a:r>
          </a:p>
          <a:p>
            <a:endParaRPr lang="en-GB" dirty="0">
              <a:effectLst/>
            </a:endParaRPr>
          </a:p>
          <a:p>
            <a:r>
              <a:rPr lang="en-GB" b="1" dirty="0">
                <a:effectLst/>
              </a:rPr>
              <a:t>Volume </a:t>
            </a:r>
            <a:r>
              <a:rPr lang="en-GB" b="1" dirty="0" err="1">
                <a:effectLst/>
              </a:rPr>
              <a:t>persistente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pentru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păstrarea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datelor</a:t>
            </a:r>
            <a:endParaRPr lang="en-GB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SonarQube </a:t>
            </a:r>
            <a:r>
              <a:rPr lang="en-GB" dirty="0" err="1"/>
              <a:t>pentru</a:t>
            </a:r>
            <a:r>
              <a:rPr lang="en-GB" dirty="0"/>
              <a:t> Quality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Analiza </a:t>
            </a:r>
            <a:r>
              <a:rPr lang="en-GB" dirty="0" err="1">
                <a:effectLst/>
              </a:rPr>
              <a:t>calității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codului</a:t>
            </a:r>
            <a:r>
              <a:rPr lang="en-GB" dirty="0">
                <a:effectLst/>
              </a:rPr>
              <a:t> </a:t>
            </a:r>
            <a:r>
              <a:rPr lang="en-GB" dirty="0" err="1">
                <a:effectLst/>
              </a:rPr>
              <a:t>în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timp</a:t>
            </a:r>
            <a:r>
              <a:rPr lang="en-GB" dirty="0">
                <a:effectLst/>
              </a:rPr>
              <a:t>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effectLst/>
              </a:rPr>
              <a:t>Metrici</a:t>
            </a:r>
            <a:r>
              <a:rPr lang="en-GB" dirty="0">
                <a:effectLst/>
              </a:rPr>
              <a:t> automate: complexity, duplications, maintainability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effectLst/>
            </a:endParaRPr>
          </a:p>
          <a:p>
            <a:r>
              <a:rPr lang="en-GB" b="1" dirty="0" err="1"/>
              <a:t>Containerizare</a:t>
            </a:r>
            <a:r>
              <a:rPr lang="en-GB" b="1" dirty="0"/>
              <a:t> </a:t>
            </a:r>
            <a:r>
              <a:rPr lang="en-GB" b="1" dirty="0" err="1"/>
              <a:t>completă</a:t>
            </a:r>
            <a:endParaRPr lang="en-GB" b="1" dirty="0"/>
          </a:p>
          <a:p>
            <a:br>
              <a:rPr lang="en-GB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5C75-87E0-0DB1-B6DC-6A2DEA60B2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54BC9-2E57-824A-9916-5BC1B919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56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DACD-D4E9-D868-10B7-B7464C26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66" y="176214"/>
            <a:ext cx="5249683" cy="15073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0" kern="1200" cap="all" baseline="0" dirty="0" err="1">
                <a:latin typeface="+mj-lt"/>
                <a:ea typeface="+mj-ea"/>
                <a:cs typeface="+mj-cs"/>
              </a:rPr>
              <a:t>Lipsa</a:t>
            </a:r>
            <a:r>
              <a:rPr lang="en-US" sz="2700" b="0" kern="1200" cap="all" baseline="0" dirty="0">
                <a:latin typeface="+mj-lt"/>
                <a:ea typeface="+mj-ea"/>
                <a:cs typeface="+mj-cs"/>
              </a:rPr>
              <a:t> design patterns</a:t>
            </a: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endParaRPr lang="en-US" sz="2700" b="0" kern="1200" cap="all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691B0-7341-49BF-89C9-F8A2CB47CC65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21040" y="2276856"/>
            <a:ext cx="3401568" cy="4041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GB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F448-4A1A-4625-40BD-5051705F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7C231-096C-0EDB-05D4-93C4EFA6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FC4A9-0EC8-3036-CF7D-007A11C8F69E}"/>
              </a:ext>
            </a:extLst>
          </p:cNvPr>
          <p:cNvSpPr txBox="1"/>
          <p:nvPr/>
        </p:nvSpPr>
        <p:spPr>
          <a:xfrm>
            <a:off x="512748" y="2170632"/>
            <a:ext cx="102293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AppointmentService</a:t>
            </a:r>
            <a:r>
              <a:rPr lang="en-GB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Logica </a:t>
            </a:r>
            <a:r>
              <a:rPr lang="en-GB" dirty="0" err="1"/>
              <a:t>complexa</a:t>
            </a:r>
            <a:r>
              <a:rPr lang="en-GB" dirty="0"/>
              <a:t> hardcoded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validări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If-else chains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diferite</a:t>
            </a:r>
            <a:r>
              <a:rPr lang="en-GB" dirty="0"/>
              <a:t> </a:t>
            </a:r>
            <a:r>
              <a:rPr lang="en-GB" dirty="0" err="1"/>
              <a:t>tipuri</a:t>
            </a:r>
            <a:r>
              <a:rPr lang="en-GB" dirty="0"/>
              <a:t> </a:t>
            </a:r>
            <a:r>
              <a:rPr lang="en-GB" dirty="0" err="1"/>
              <a:t>instituții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Calculuri</a:t>
            </a:r>
            <a:r>
              <a:rPr lang="en-GB" dirty="0"/>
              <a:t> de </a:t>
            </a:r>
            <a:r>
              <a:rPr lang="en-GB" dirty="0" err="1"/>
              <a:t>disponibilitate</a:t>
            </a:r>
            <a:r>
              <a:rPr lang="en-GB" dirty="0"/>
              <a:t> cu </a:t>
            </a:r>
            <a:r>
              <a:rPr lang="en-GB" dirty="0" err="1"/>
              <a:t>algoritmi</a:t>
            </a:r>
            <a:r>
              <a:rPr lang="en-GB" dirty="0"/>
              <a:t> </a:t>
            </a:r>
            <a:r>
              <a:rPr lang="en-GB" dirty="0" err="1"/>
              <a:t>fixi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Creare</a:t>
            </a:r>
            <a:r>
              <a:rPr lang="en-GB" dirty="0"/>
              <a:t> </a:t>
            </a:r>
            <a:r>
              <a:rPr lang="en-GB" dirty="0" err="1"/>
              <a:t>directă</a:t>
            </a:r>
            <a:r>
              <a:rPr lang="en-GB" dirty="0"/>
              <a:t> de </a:t>
            </a:r>
            <a:r>
              <a:rPr lang="en-GB" dirty="0" err="1"/>
              <a:t>obiecte</a:t>
            </a:r>
            <a:r>
              <a:rPr lang="en-GB" dirty="0"/>
              <a:t> </a:t>
            </a:r>
            <a:r>
              <a:rPr lang="en-GB" dirty="0" err="1"/>
              <a:t>fără</a:t>
            </a:r>
            <a:r>
              <a:rPr lang="en-GB" dirty="0"/>
              <a:t> </a:t>
            </a:r>
            <a:r>
              <a:rPr lang="en-GB" dirty="0" err="1"/>
              <a:t>abstracție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 err="1"/>
              <a:t>NotificationService</a:t>
            </a: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Switch-case hardcoded: email/SMS/push per tip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Logică</a:t>
            </a:r>
            <a:r>
              <a:rPr lang="en-GB" dirty="0"/>
              <a:t> </a:t>
            </a:r>
            <a:r>
              <a:rPr lang="en-GB" dirty="0" err="1"/>
              <a:t>duplicată</a:t>
            </a:r>
            <a:r>
              <a:rPr lang="en-GB" dirty="0"/>
              <a:t> </a:t>
            </a:r>
            <a:r>
              <a:rPr lang="en-GB" dirty="0" err="1"/>
              <a:t>pentru</a:t>
            </a:r>
            <a:r>
              <a:rPr lang="en-GB" dirty="0"/>
              <a:t> </a:t>
            </a:r>
            <a:r>
              <a:rPr lang="en-GB" dirty="0" err="1"/>
              <a:t>formatarea</a:t>
            </a:r>
            <a:r>
              <a:rPr lang="en-GB" dirty="0"/>
              <a:t> </a:t>
            </a:r>
            <a:r>
              <a:rPr lang="en-GB" dirty="0" err="1"/>
              <a:t>mesajelor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Imposibil</a:t>
            </a:r>
            <a:r>
              <a:rPr lang="en-GB" dirty="0"/>
              <a:t> de </a:t>
            </a:r>
            <a:r>
              <a:rPr lang="en-GB" dirty="0" err="1"/>
              <a:t>extins</a:t>
            </a:r>
            <a:r>
              <a:rPr lang="en-GB" dirty="0"/>
              <a:t> cu </a:t>
            </a:r>
            <a:r>
              <a:rPr lang="en-GB" dirty="0" err="1"/>
              <a:t>noi</a:t>
            </a:r>
            <a:r>
              <a:rPr lang="en-GB" dirty="0"/>
              <a:t> </a:t>
            </a:r>
            <a:r>
              <a:rPr lang="en-GB" dirty="0" err="1"/>
              <a:t>canale</a:t>
            </a:r>
            <a:r>
              <a:rPr lang="en-GB" dirty="0"/>
              <a:t> de </a:t>
            </a:r>
            <a:r>
              <a:rPr lang="en-GB" dirty="0" err="1"/>
              <a:t>notificare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0353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F279-C947-8432-55F5-E1FA66DE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8071-49AF-F848-AA0B-94FF42FD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66" y="176214"/>
            <a:ext cx="5249683" cy="15073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0" kern="1200" cap="all" baseline="0" dirty="0">
                <a:latin typeface="+mj-lt"/>
                <a:ea typeface="+mj-ea"/>
                <a:cs typeface="+mj-cs"/>
              </a:rPr>
              <a:t>design patterns PROPUSE</a:t>
            </a: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endParaRPr lang="en-US" sz="2700" b="0" kern="1200" cap="all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A8BC3-8834-25A2-643E-4C8B4B00C82D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21040" y="2276856"/>
            <a:ext cx="3401568" cy="4041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GB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0185-C12C-6132-DDD5-26292D23B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20894-EE72-6E1F-2CEA-01C5B394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7FDF4-E104-1172-CA04-3D68EE1DC16E}"/>
              </a:ext>
            </a:extLst>
          </p:cNvPr>
          <p:cNvSpPr txBox="1"/>
          <p:nvPr/>
        </p:nvSpPr>
        <p:spPr>
          <a:xfrm>
            <a:off x="512748" y="2170632"/>
            <a:ext cx="102293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Factory Method Pattern</a:t>
            </a:r>
          </a:p>
          <a:p>
            <a:br>
              <a:rPr lang="en-GB" dirty="0"/>
            </a:br>
            <a:r>
              <a:rPr lang="en-GB" dirty="0" err="1"/>
              <a:t>Acum</a:t>
            </a:r>
            <a:r>
              <a:rPr lang="en-GB" dirty="0"/>
              <a:t>: new Appointment(), new Institution() direct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servicii</a:t>
            </a:r>
            <a:endParaRPr lang="en-GB" dirty="0"/>
          </a:p>
          <a:p>
            <a:r>
              <a:rPr lang="en-GB" dirty="0" err="1"/>
              <a:t>Viitor</a:t>
            </a:r>
            <a:r>
              <a:rPr lang="en-GB" dirty="0"/>
              <a:t>: </a:t>
            </a:r>
            <a:r>
              <a:rPr lang="en-GB" dirty="0" err="1"/>
              <a:t>InstitutionFactory</a:t>
            </a:r>
            <a:r>
              <a:rPr lang="en-GB" dirty="0"/>
              <a:t>, </a:t>
            </a:r>
            <a:r>
              <a:rPr lang="en-GB" dirty="0" err="1"/>
              <a:t>AppointmentFactory</a:t>
            </a:r>
            <a:r>
              <a:rPr lang="en-GB" dirty="0"/>
              <a:t> per tip</a:t>
            </a:r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Strategy Pattern</a:t>
            </a:r>
          </a:p>
          <a:p>
            <a:r>
              <a:rPr lang="en-GB" dirty="0" err="1"/>
              <a:t>Acum</a:t>
            </a:r>
            <a:r>
              <a:rPr lang="en-GB" dirty="0"/>
              <a:t>: if(type == “type1") {...} else if(type == “type2")</a:t>
            </a:r>
          </a:p>
          <a:p>
            <a:r>
              <a:rPr lang="en-GB" dirty="0" err="1"/>
              <a:t>Viitor</a:t>
            </a:r>
            <a:r>
              <a:rPr lang="en-GB" dirty="0"/>
              <a:t>: </a:t>
            </a:r>
            <a:r>
              <a:rPr lang="en-GB" dirty="0" err="1"/>
              <a:t>AvailabilityStrategy</a:t>
            </a:r>
            <a:r>
              <a:rPr lang="en-GB" dirty="0"/>
              <a:t>, </a:t>
            </a:r>
            <a:r>
              <a:rPr lang="en-GB" dirty="0" err="1"/>
              <a:t>ValidationStrategy</a:t>
            </a:r>
            <a:r>
              <a:rPr lang="en-GB" dirty="0"/>
              <a:t> per </a:t>
            </a:r>
            <a:r>
              <a:rPr lang="en-GB" dirty="0" err="1"/>
              <a:t>instituție</a:t>
            </a:r>
            <a:endParaRPr lang="en-GB" dirty="0"/>
          </a:p>
          <a:p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6729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BE6DC-22C9-C49B-A797-25837442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AA83-0B67-FDBE-497F-8ED16B7E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66" y="176214"/>
            <a:ext cx="5249683" cy="15073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0" kern="1200" cap="all" baseline="0" dirty="0">
                <a:latin typeface="+mj-lt"/>
                <a:ea typeface="+mj-ea"/>
                <a:cs typeface="+mj-cs"/>
              </a:rPr>
              <a:t>design patterns PROPUSE</a:t>
            </a: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br>
              <a:rPr lang="en-US" sz="2700" b="0" kern="1200" cap="all" baseline="0" dirty="0">
                <a:latin typeface="+mj-lt"/>
                <a:ea typeface="+mj-ea"/>
                <a:cs typeface="+mj-cs"/>
              </a:rPr>
            </a:br>
            <a:endParaRPr lang="en-US" sz="2700" b="0" kern="1200" cap="all" baseline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B75ED7-B40D-BF6F-D475-B216BBFB9907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321040" y="2276856"/>
            <a:ext cx="3401568" cy="40416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GB" sz="1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B254-B6C3-DA14-9A75-5E2CE3C9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B5D20-A1F8-B470-E55F-4EDED92E5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CD400-B6AD-4725-BCBF-456EF1B089F1}"/>
              </a:ext>
            </a:extLst>
          </p:cNvPr>
          <p:cNvSpPr txBox="1"/>
          <p:nvPr/>
        </p:nvSpPr>
        <p:spPr>
          <a:xfrm>
            <a:off x="512748" y="2170632"/>
            <a:ext cx="102293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Adapter Pattern</a:t>
            </a:r>
          </a:p>
          <a:p>
            <a:r>
              <a:rPr lang="en-GB" dirty="0" err="1"/>
              <a:t>Acum</a:t>
            </a:r>
            <a:r>
              <a:rPr lang="en-GB" dirty="0"/>
              <a:t>: hardcoded email/SMS </a:t>
            </a:r>
            <a:r>
              <a:rPr lang="en-GB" dirty="0" err="1"/>
              <a:t>în</a:t>
            </a:r>
            <a:r>
              <a:rPr lang="en-GB" dirty="0"/>
              <a:t> </a:t>
            </a:r>
            <a:r>
              <a:rPr lang="en-GB" dirty="0" err="1"/>
              <a:t>NotificationService</a:t>
            </a:r>
            <a:r>
              <a:rPr lang="en-GB" dirty="0"/>
              <a:t>  </a:t>
            </a:r>
          </a:p>
          <a:p>
            <a:r>
              <a:rPr lang="en-GB" dirty="0" err="1"/>
              <a:t>Viitor</a:t>
            </a:r>
            <a:r>
              <a:rPr lang="en-GB" dirty="0"/>
              <a:t>: </a:t>
            </a:r>
            <a:r>
              <a:rPr lang="en-GB" dirty="0" err="1"/>
              <a:t>EmailAdapter</a:t>
            </a:r>
            <a:r>
              <a:rPr lang="en-GB" dirty="0"/>
              <a:t>, </a:t>
            </a:r>
            <a:r>
              <a:rPr lang="en-GB" dirty="0" err="1"/>
              <a:t>SMSAdapter</a:t>
            </a:r>
            <a:r>
              <a:rPr lang="en-GB" dirty="0"/>
              <a:t>, </a:t>
            </a:r>
            <a:r>
              <a:rPr lang="en-GB" dirty="0" err="1"/>
              <a:t>PushAdapter</a:t>
            </a: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Facade Pattern</a:t>
            </a:r>
          </a:p>
          <a:p>
            <a:br>
              <a:rPr lang="en-GB" dirty="0"/>
            </a:br>
            <a:r>
              <a:rPr lang="en-GB" dirty="0" err="1"/>
              <a:t>Acum</a:t>
            </a:r>
            <a:r>
              <a:rPr lang="en-GB" dirty="0"/>
              <a:t>: Controller </a:t>
            </a:r>
            <a:r>
              <a:rPr lang="en-GB" dirty="0" err="1"/>
              <a:t>apelează</a:t>
            </a:r>
            <a:r>
              <a:rPr lang="en-GB" dirty="0"/>
              <a:t> direct multiple </a:t>
            </a:r>
            <a:r>
              <a:rPr lang="en-GB" dirty="0" err="1"/>
              <a:t>servicii</a:t>
            </a:r>
            <a:endParaRPr lang="en-GB" dirty="0"/>
          </a:p>
          <a:p>
            <a:r>
              <a:rPr lang="en-GB" dirty="0" err="1"/>
              <a:t>Viitor</a:t>
            </a:r>
            <a:r>
              <a:rPr lang="en-GB" dirty="0"/>
              <a:t>: </a:t>
            </a:r>
            <a:r>
              <a:rPr lang="en-GB" dirty="0" err="1"/>
              <a:t>AppointmentFacade</a:t>
            </a:r>
            <a:r>
              <a:rPr lang="en-GB" dirty="0"/>
              <a:t> care </a:t>
            </a:r>
            <a:r>
              <a:rPr lang="en-GB" dirty="0" err="1"/>
              <a:t>orchestrează</a:t>
            </a:r>
            <a:r>
              <a:rPr lang="en-GB" dirty="0"/>
              <a:t> </a:t>
            </a:r>
            <a:r>
              <a:rPr lang="en-GB" dirty="0" err="1"/>
              <a:t>toate</a:t>
            </a:r>
            <a:r>
              <a:rPr lang="en-GB" dirty="0"/>
              <a:t> </a:t>
            </a:r>
            <a:r>
              <a:rPr lang="en-GB" dirty="0" err="1"/>
              <a:t>operațiile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Observer Pattern</a:t>
            </a:r>
          </a:p>
          <a:p>
            <a:br>
              <a:rPr lang="en-GB" dirty="0"/>
            </a:br>
            <a:r>
              <a:rPr lang="en-GB" dirty="0" err="1"/>
              <a:t>Acum</a:t>
            </a:r>
            <a:r>
              <a:rPr lang="en-GB" dirty="0"/>
              <a:t>: </a:t>
            </a:r>
            <a:r>
              <a:rPr lang="en-GB" dirty="0" err="1"/>
              <a:t>appointmentService.save</a:t>
            </a:r>
            <a:r>
              <a:rPr lang="en-GB" dirty="0"/>
              <a:t>() → </a:t>
            </a:r>
            <a:r>
              <a:rPr lang="en-GB" dirty="0" err="1"/>
              <a:t>notificationService.send</a:t>
            </a:r>
            <a:r>
              <a:rPr lang="en-GB" dirty="0"/>
              <a:t>()</a:t>
            </a:r>
          </a:p>
          <a:p>
            <a:r>
              <a:rPr lang="en-GB" dirty="0" err="1"/>
              <a:t>Viitor</a:t>
            </a:r>
            <a:r>
              <a:rPr lang="en-GB" dirty="0"/>
              <a:t>: Event-driven: </a:t>
            </a:r>
            <a:r>
              <a:rPr lang="en-GB" dirty="0" err="1"/>
              <a:t>AppointmentCreated</a:t>
            </a:r>
            <a:r>
              <a:rPr lang="en-GB" dirty="0"/>
              <a:t> → </a:t>
            </a:r>
            <a:r>
              <a:rPr lang="en-GB" dirty="0" err="1"/>
              <a:t>NotificationListener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1082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2FCA-1E81-21ED-CA2C-3342521ED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489846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Metrici</a:t>
            </a:r>
            <a:r>
              <a:rPr lang="en-US" sz="2800" b="0" kern="1200" cap="all" baseline="0" dirty="0">
                <a:latin typeface="+mj-lt"/>
                <a:ea typeface="+mj-ea"/>
                <a:cs typeface="+mj-cs"/>
              </a:rPr>
              <a:t> de </a:t>
            </a:r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calitate</a:t>
            </a:r>
            <a:r>
              <a:rPr lang="en-US" sz="2800" b="0" kern="1200" cap="all" baseline="0" dirty="0">
                <a:latin typeface="+mj-lt"/>
                <a:ea typeface="+mj-ea"/>
                <a:cs typeface="+mj-cs"/>
              </a:rPr>
              <a:t> </a:t>
            </a:r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folosind</a:t>
            </a:r>
            <a:r>
              <a:rPr lang="en-US" sz="2800" b="0" kern="1200" cap="all" baseline="0" dirty="0">
                <a:latin typeface="+mj-lt"/>
                <a:ea typeface="+mj-ea"/>
                <a:cs typeface="+mj-cs"/>
              </a:rPr>
              <a:t> SonarQube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E3DCA-86CF-4112-AE2F-0789E8D48BAA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182341" y="3099816"/>
            <a:ext cx="3403106" cy="29535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400" dirty="0"/>
              <a:t>Am </a:t>
            </a:r>
            <a:r>
              <a:rPr lang="en-GB" sz="1400" dirty="0" err="1"/>
              <a:t>facut</a:t>
            </a:r>
            <a:r>
              <a:rPr lang="en-GB" sz="1400" dirty="0"/>
              <a:t> </a:t>
            </a:r>
            <a:r>
              <a:rPr lang="en-GB" sz="1400" dirty="0" err="1"/>
              <a:t>suportul</a:t>
            </a:r>
            <a:r>
              <a:rPr lang="en-GB" sz="1400" dirty="0"/>
              <a:t> </a:t>
            </a:r>
            <a:r>
              <a:rPr lang="en-GB" sz="1400" dirty="0" err="1"/>
              <a:t>pentru</a:t>
            </a:r>
            <a:r>
              <a:rPr lang="en-GB" sz="1400" dirty="0"/>
              <a:t> a </a:t>
            </a:r>
            <a:r>
              <a:rPr lang="en-GB" sz="1400" dirty="0" err="1"/>
              <a:t>folosi</a:t>
            </a:r>
            <a:r>
              <a:rPr lang="en-GB" sz="1400" dirty="0"/>
              <a:t> SonarQube in a genera </a:t>
            </a:r>
            <a:r>
              <a:rPr lang="en-GB" sz="1400" dirty="0" err="1"/>
              <a:t>metrici</a:t>
            </a:r>
            <a:r>
              <a:rPr lang="en-GB" sz="1400" dirty="0"/>
              <a:t> de </a:t>
            </a:r>
            <a:r>
              <a:rPr lang="en-GB" sz="1400" dirty="0" err="1"/>
              <a:t>calitate</a:t>
            </a:r>
            <a:r>
              <a:rPr lang="en-GB" sz="1400" dirty="0"/>
              <a:t> a </a:t>
            </a:r>
            <a:r>
              <a:rPr lang="en-GB" sz="1400" dirty="0" err="1"/>
              <a:t>codului</a:t>
            </a:r>
            <a:r>
              <a:rPr lang="en-GB" sz="1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B8A6D-D4AE-D28F-CC18-83B94AD7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CC29C-AA53-2AD6-BA0F-16283D2B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2DC483-AB1F-F69F-8277-DB3E5D53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992"/>
            <a:ext cx="8182341" cy="368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787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05BE-FE88-E419-403C-8CD6977D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4EF954-66B1-4168-AF40-97F3DAF43FC4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18219-8F81-E182-9CFC-5E25AE87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1D988A7-FCB0-1374-33ED-1556B2FD0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2267"/>
            <a:ext cx="8726118" cy="404869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511F686-D982-8858-9A9E-D95EDAF7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154" y="1198940"/>
            <a:ext cx="3489846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Startul</a:t>
            </a:r>
            <a:r>
              <a:rPr lang="en-US" sz="2800" b="0" kern="1200" cap="all" baseline="0" dirty="0">
                <a:latin typeface="+mj-lt"/>
                <a:ea typeface="+mj-ea"/>
                <a:cs typeface="+mj-cs"/>
              </a:rPr>
              <a:t> </a:t>
            </a:r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ui-ului</a:t>
            </a:r>
            <a:endParaRPr lang="en-US" sz="2800" b="0" kern="1200" cap="all" baseline="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853192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18A2-5528-E12D-3682-1DE7720B7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5857-A1EE-DD72-6D99-34B2455A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04EF954-66B1-4168-AF40-97F3DAF43FC4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C015D-17A8-1C66-9BCE-FD3F36CF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49B8CD-6A38-C05B-22A7-65A518F4F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154" y="1198940"/>
            <a:ext cx="3489846" cy="19476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Startul</a:t>
            </a:r>
            <a:r>
              <a:rPr lang="en-US" sz="2800" b="0" kern="1200" cap="all" baseline="0" dirty="0">
                <a:latin typeface="+mj-lt"/>
                <a:ea typeface="+mj-ea"/>
                <a:cs typeface="+mj-cs"/>
              </a:rPr>
              <a:t> </a:t>
            </a:r>
            <a:r>
              <a:rPr lang="en-US" sz="2800" b="0" kern="1200" cap="all" baseline="0" dirty="0" err="1">
                <a:latin typeface="+mj-lt"/>
                <a:ea typeface="+mj-ea"/>
                <a:cs typeface="+mj-cs"/>
              </a:rPr>
              <a:t>ui-ului</a:t>
            </a:r>
            <a:endParaRPr lang="en-US" sz="2800" b="0" kern="1200" cap="all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EBD9AC-BC0F-7590-0C4A-870F77BAE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634"/>
            <a:ext cx="6992326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650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DEF2-7BDC-4462-5972-7B7A6F08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cap="all" baseline="0" dirty="0" err="1">
                <a:latin typeface="+mj-lt"/>
                <a:ea typeface="+mj-ea"/>
                <a:cs typeface="+mj-cs"/>
              </a:rPr>
              <a:t>Impartirea</a:t>
            </a:r>
            <a:r>
              <a:rPr lang="en-US" b="0" kern="1200" cap="all" baseline="0" dirty="0">
                <a:latin typeface="+mj-lt"/>
                <a:ea typeface="+mj-ea"/>
                <a:cs typeface="+mj-cs"/>
              </a:rPr>
              <a:t> </a:t>
            </a:r>
            <a:r>
              <a:rPr lang="en-US" b="0" kern="1200" cap="all" baseline="0" dirty="0" err="1">
                <a:latin typeface="+mj-lt"/>
                <a:ea typeface="+mj-ea"/>
                <a:cs typeface="+mj-cs"/>
              </a:rPr>
              <a:t>sarcinilor</a:t>
            </a:r>
            <a:endParaRPr lang="en-US" b="0" kern="1200" cap="all" baseline="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Team members collaborating with laptops, charts, and documents in a professional workspace">
            <a:extLst>
              <a:ext uri="{FF2B5EF4-FFF2-40B4-BE49-F238E27FC236}">
                <a16:creationId xmlns:a16="http://schemas.microsoft.com/office/drawing/2014/main" id="{217884D9-783E-450B-89ED-A6B3DA950BD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1660" r="11053" b="3"/>
          <a:stretch>
            <a:fillRect/>
          </a:stretch>
        </p:blipFill>
        <p:spPr>
          <a:xfrm>
            <a:off x="20" y="2293496"/>
            <a:ext cx="5285212" cy="456450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2AC527-B536-4CD5-94C4-AF63B9916423}"/>
              </a:ext>
            </a:extLst>
          </p:cNvPr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096000" y="549275"/>
            <a:ext cx="5585925" cy="57832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600" dirty="0"/>
              <a:t>Marius – UI, controllers, SonarQube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600" dirty="0"/>
              <a:t>Daria – Database connection, models, Docker Compose</a:t>
            </a: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600" dirty="0"/>
              <a:t>Andrei – Logica </a:t>
            </a:r>
            <a:r>
              <a:rPr lang="en-GB" sz="1600" dirty="0" err="1"/>
              <a:t>serviciilor</a:t>
            </a:r>
            <a:r>
              <a:rPr lang="en-GB" sz="1600" dirty="0"/>
              <a:t>, DTOs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21D0-57DE-1902-434B-AD829E40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D050-06DE-E24C-1383-88D679F9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229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8A8C1-26FE-F615-2994-771E1211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36776"/>
            <a:ext cx="10890374" cy="1627632"/>
          </a:xfrm>
        </p:spPr>
        <p:txBody>
          <a:bodyPr anchor="t">
            <a:normAutofit/>
          </a:bodyPr>
          <a:lstStyle/>
          <a:p>
            <a:r>
              <a:rPr lang="en-GB" sz="3400" dirty="0" err="1"/>
              <a:t>Multumim</a:t>
            </a:r>
            <a:r>
              <a:rPr lang="en-GB" sz="3400" dirty="0"/>
              <a:t>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A305-9411-AD43-BDEA-47A21598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21D4C7-8630-4B98-978C-30388BBD4EE8}" type="datetime1">
              <a:rPr lang="en-US" smtClean="0"/>
              <a:pPr>
                <a:spcAft>
                  <a:spcPts val="600"/>
                </a:spcAft>
              </a:pPr>
              <a:t>11/17/2025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7F9DE-404F-6555-6D25-AF4757FE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4C450F2-3BB4-4AE4-8A35-A9D7AEA4C85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3090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349</Words>
  <Application>Microsoft Office PowerPoint</Application>
  <PresentationFormat>Widescreen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Neue Haas Grotesk Text Pro</vt:lpstr>
      <vt:lpstr>OasisVTI</vt:lpstr>
      <vt:lpstr>Sistem programari ghișeu – MILESTONE 1</vt:lpstr>
      <vt:lpstr>Status curent</vt:lpstr>
      <vt:lpstr>Status curent</vt:lpstr>
      <vt:lpstr>Lipsa design patterns  </vt:lpstr>
      <vt:lpstr>design patterns PROPUSE  </vt:lpstr>
      <vt:lpstr>design patterns PROPUSE  </vt:lpstr>
      <vt:lpstr>Metrici de calitate folosind SonarQube</vt:lpstr>
      <vt:lpstr>Startul ui-ului</vt:lpstr>
      <vt:lpstr>Startul ui-ului</vt:lpstr>
      <vt:lpstr>Impartirea sarcinilor</vt:lpstr>
      <vt:lpstr>Multumim!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Dragomir</dc:creator>
  <cp:lastModifiedBy>Andrei Dragomir</cp:lastModifiedBy>
  <cp:revision>2</cp:revision>
  <dcterms:created xsi:type="dcterms:W3CDTF">2025-11-17T15:36:35Z</dcterms:created>
  <dcterms:modified xsi:type="dcterms:W3CDTF">2025-11-17T17:56:07Z</dcterms:modified>
</cp:coreProperties>
</file>