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1" r:id="rId2"/>
    <p:sldId id="2564" r:id="rId3"/>
    <p:sldId id="2586" r:id="rId4"/>
    <p:sldId id="2568" r:id="rId5"/>
    <p:sldId id="2584" r:id="rId6"/>
    <p:sldId id="2585" r:id="rId7"/>
    <p:sldId id="2572" r:id="rId8"/>
    <p:sldId id="2575" r:id="rId9"/>
    <p:sldId id="2587" r:id="rId10"/>
    <p:sldId id="2580" r:id="rId11"/>
    <p:sldId id="258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u" id="{B50DCCF3-2126-4159-A10A-ABBB1BD16A22}">
          <p14:sldIdLst>
            <p14:sldId id="2561"/>
          </p14:sldIdLst>
        </p14:section>
        <p14:section name="Status curent" id="{A468DF59-0A87-411A-94FA-785FC75CDC6F}">
          <p14:sldIdLst>
            <p14:sldId id="2564"/>
            <p14:sldId id="2586"/>
          </p14:sldIdLst>
        </p14:section>
        <p14:section name="Exemple" id="{506D0437-CB34-43AE-9AC4-BB2ABEEC5240}">
          <p14:sldIdLst>
            <p14:sldId id="2568"/>
            <p14:sldId id="2584"/>
            <p14:sldId id="2585"/>
          </p14:sldIdLst>
        </p14:section>
        <p14:section name="Quality Metrics Using SonarQube" id="{8C54E7E5-4736-4532-B0AF-F1A3E95739C1}">
          <p14:sldIdLst>
            <p14:sldId id="2572"/>
          </p14:sldIdLst>
        </p14:section>
        <p14:section name="UI exemple" id="{5D6A0E4B-2AFE-4867-86A3-2267F87F2878}">
          <p14:sldIdLst>
            <p14:sldId id="2575"/>
            <p14:sldId id="2587"/>
          </p14:sldIdLst>
        </p14:section>
        <p14:section name="Team Contributions and Roles" id="{F936C4D4-D821-4DB7-9FD2-9B7CBDE0E2C0}">
          <p14:sldIdLst>
            <p14:sldId id="2580"/>
          </p14:sldIdLst>
        </p14:section>
        <p14:section name="Conclusion: Building a Strong Foundation for Future Enhancements" id="{C614F002-799D-4033-BD83-927A30F33F82}">
          <p14:sldIdLst>
            <p14:sldId id="25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94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CC9672-787B-4221-BEA6-C4A6FCCF081F}" type="datetimeFigureOut">
              <a:rPr lang="en-GB" smtClean="0"/>
              <a:t>17/11/2025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07E109-BEE9-44AE-9ADD-6395D3B540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6836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11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055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830E-E395-CC48-0639-EB21AC05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ABEBD0-E846-A9D0-C330-2603FB6AE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6B8EB1-B63A-5BF6-99DB-6161B90D0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955EE-7647-6349-C699-D2E84D72F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05282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0211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DB3D-CD94-6E47-41A0-995C0433F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F7CE36-05CA-D49E-A19A-A9A0F01AD4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42EB2-37EA-1DF5-8648-8826B72464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FE92A-0F36-3BE2-F3A7-D7ABFD0519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3913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4811-C5CA-546E-8C01-3B908196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1A597D-18A1-7231-E981-C5E39A07B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C1B6-247F-C7D1-A876-E1D898186B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9C17E2-1E14-3303-60DD-33C0D7A32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8808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66831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9022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C260C-5F94-27D0-9D8F-9D8D0FADD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744130-81FC-DB7D-5E7F-FCAE855F9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639657-60DF-E1A5-A03A-F9EEB5152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0D6D0-777A-E268-9866-1B121ECA9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07980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0588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35654-BF84-49CA-A20F-0BFC1E59E5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532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Autofit/>
          </a:bodyPr>
          <a:lstStyle>
            <a:lvl1pPr algn="l">
              <a:defRPr sz="72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7685139" cy="1414091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4EF954-66B1-4168-AF40-97F3DAF43FC4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257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26233410-150A-4A72-BF63-6D3ACBC30148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097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553616"/>
            <a:ext cx="7914087" cy="4008859"/>
          </a:xfrm>
        </p:spPr>
        <p:txBody>
          <a:bodyPr anchor="t">
            <a:normAutofit/>
          </a:bodyPr>
          <a:lstStyle>
            <a:lvl1pPr>
              <a:defRPr sz="600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5088156"/>
            <a:ext cx="7914087" cy="1166648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/>
          <a:lstStyle/>
          <a:p>
            <a:fld id="{91AF1D09-6B76-4716-AD3D-9F53166D3BF5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93370" y="6490524"/>
            <a:ext cx="2662834" cy="336141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55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2" y="293302"/>
            <a:ext cx="11125032" cy="96510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172" y="1384847"/>
            <a:ext cx="11125032" cy="49051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1D4C7-8630-4B98-978C-30388BBD4EE8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C450F2-3BB4-4AE4-8A35-A9D7AEA4C8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330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5276088"/>
            <a:ext cx="11347704" cy="786384"/>
          </a:xfrm>
        </p:spPr>
        <p:txBody>
          <a:bodyPr anchor="b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5980176"/>
            <a:ext cx="11347704" cy="53035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9E06FED-92D3-C4D6-28D7-600D842F7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1733150" cy="5135804"/>
          </a:xfrm>
          <a:custGeom>
            <a:avLst/>
            <a:gdLst>
              <a:gd name="connsiteX0" fmla="*/ 0 w 11733150"/>
              <a:gd name="connsiteY0" fmla="*/ 0 h 5135804"/>
              <a:gd name="connsiteX1" fmla="*/ 11733150 w 11733150"/>
              <a:gd name="connsiteY1" fmla="*/ 0 h 5135804"/>
              <a:gd name="connsiteX2" fmla="*/ 11733150 w 11733150"/>
              <a:gd name="connsiteY2" fmla="*/ 4533808 h 5135804"/>
              <a:gd name="connsiteX3" fmla="*/ 11131154 w 11733150"/>
              <a:gd name="connsiteY3" fmla="*/ 5135804 h 5135804"/>
              <a:gd name="connsiteX4" fmla="*/ 0 w 11733150"/>
              <a:gd name="connsiteY4" fmla="*/ 5135804 h 5135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5135804">
                <a:moveTo>
                  <a:pt x="0" y="0"/>
                </a:moveTo>
                <a:lnTo>
                  <a:pt x="11733150" y="0"/>
                </a:lnTo>
                <a:lnTo>
                  <a:pt x="11733150" y="4533808"/>
                </a:lnTo>
                <a:cubicBezTo>
                  <a:pt x="11733150" y="4866281"/>
                  <a:pt x="11463627" y="5135804"/>
                  <a:pt x="11131154" y="5135804"/>
                </a:cubicBezTo>
                <a:lnTo>
                  <a:pt x="0" y="51358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19672"/>
            <a:ext cx="3494314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8C13480A-5F85-4A30-80F2-F92581C6474C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6519672"/>
            <a:ext cx="280540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519672"/>
            <a:ext cx="429207" cy="365125"/>
          </a:xfrm>
        </p:spPr>
        <p:txBody>
          <a:bodyPr vert="horz" lIns="91440" tIns="45720" rIns="91440" bIns="45720" rtlCol="0" anchor="ctr"/>
          <a:lstStyle>
            <a:lvl1pPr>
              <a:defRPr lang="en-US" smtClean="0">
                <a:solidFill>
                  <a:schemeClr val="bg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3031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4590288" cy="3739896"/>
          </a:xfrm>
        </p:spPr>
        <p:txBody>
          <a:bodyPr anchor="t">
            <a:normAutofit/>
          </a:bodyPr>
          <a:lstStyle>
            <a:lvl1pPr algn="l">
              <a:defRPr sz="5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3D161DAC-42AF-C3D9-37A1-04B90F30DE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6160" y="0"/>
            <a:ext cx="6605841" cy="6399152"/>
          </a:xfrm>
          <a:custGeom>
            <a:avLst/>
            <a:gdLst>
              <a:gd name="connsiteX0" fmla="*/ 0 w 6605841"/>
              <a:gd name="connsiteY0" fmla="*/ 0 h 6399152"/>
              <a:gd name="connsiteX1" fmla="*/ 6605841 w 6605841"/>
              <a:gd name="connsiteY1" fmla="*/ 0 h 6399152"/>
              <a:gd name="connsiteX2" fmla="*/ 6605841 w 6605841"/>
              <a:gd name="connsiteY2" fmla="*/ 6399152 h 6399152"/>
              <a:gd name="connsiteX3" fmla="*/ 601995 w 6605841"/>
              <a:gd name="connsiteY3" fmla="*/ 6399152 h 6399152"/>
              <a:gd name="connsiteX4" fmla="*/ 0 w 6605841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5841" h="6399152">
                <a:moveTo>
                  <a:pt x="0" y="0"/>
                </a:moveTo>
                <a:lnTo>
                  <a:pt x="6605841" y="0"/>
                </a:lnTo>
                <a:lnTo>
                  <a:pt x="6605841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B2BF18D3-87BE-4A2D-AD2C-B21E415FD900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447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768" y="411480"/>
            <a:ext cx="5330952" cy="3739896"/>
          </a:xfrm>
        </p:spPr>
        <p:txBody>
          <a:bodyPr anchor="t">
            <a:normAutofit/>
          </a:bodyPr>
          <a:lstStyle>
            <a:lvl1pPr algn="l">
              <a:defRPr sz="66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768" y="4873752"/>
            <a:ext cx="4517136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DEE3B02A-3B83-3083-3F07-26E25C6C135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7248" y="0"/>
            <a:ext cx="5674753" cy="6399152"/>
          </a:xfrm>
          <a:custGeom>
            <a:avLst/>
            <a:gdLst>
              <a:gd name="connsiteX0" fmla="*/ 0 w 5674753"/>
              <a:gd name="connsiteY0" fmla="*/ 0 h 6399152"/>
              <a:gd name="connsiteX1" fmla="*/ 5674753 w 5674753"/>
              <a:gd name="connsiteY1" fmla="*/ 0 h 6399152"/>
              <a:gd name="connsiteX2" fmla="*/ 5674753 w 5674753"/>
              <a:gd name="connsiteY2" fmla="*/ 6399152 h 6399152"/>
              <a:gd name="connsiteX3" fmla="*/ 601996 w 5674753"/>
              <a:gd name="connsiteY3" fmla="*/ 6399152 h 6399152"/>
              <a:gd name="connsiteX4" fmla="*/ 0 w 5674753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74753" h="6399152">
                <a:moveTo>
                  <a:pt x="0" y="0"/>
                </a:moveTo>
                <a:lnTo>
                  <a:pt x="5674753" y="0"/>
                </a:lnTo>
                <a:lnTo>
                  <a:pt x="5674753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73F0B94E-0195-4FC9-AEFD-CCBB878ACEDF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971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9480" y="411480"/>
            <a:ext cx="4361688" cy="3968496"/>
          </a:xfrm>
        </p:spPr>
        <p:txBody>
          <a:bodyPr anchor="t">
            <a:normAutofit/>
          </a:bodyPr>
          <a:lstStyle>
            <a:lvl1pPr algn="l">
              <a:defRPr sz="5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6948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1D6AB98B-BD95-F9FC-BB22-1A89B6EE324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04503" cy="6399152"/>
          </a:xfrm>
          <a:custGeom>
            <a:avLst/>
            <a:gdLst>
              <a:gd name="connsiteX0" fmla="*/ 0 w 6604503"/>
              <a:gd name="connsiteY0" fmla="*/ 0 h 6399152"/>
              <a:gd name="connsiteX1" fmla="*/ 6604503 w 6604503"/>
              <a:gd name="connsiteY1" fmla="*/ 0 h 6399152"/>
              <a:gd name="connsiteX2" fmla="*/ 6604503 w 6604503"/>
              <a:gd name="connsiteY2" fmla="*/ 5797156 h 6399152"/>
              <a:gd name="connsiteX3" fmla="*/ 6002507 w 6604503"/>
              <a:gd name="connsiteY3" fmla="*/ 6399152 h 6399152"/>
              <a:gd name="connsiteX4" fmla="*/ 0 w 6604503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04503" h="6399152">
                <a:moveTo>
                  <a:pt x="0" y="0"/>
                </a:moveTo>
                <a:lnTo>
                  <a:pt x="6604503" y="0"/>
                </a:lnTo>
                <a:lnTo>
                  <a:pt x="6604503" y="5797156"/>
                </a:lnTo>
                <a:cubicBezTo>
                  <a:pt x="6604503" y="6129629"/>
                  <a:pt x="6334980" y="6399152"/>
                  <a:pt x="6002507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9B0F68CC-6BDD-49E7-8971-97164A4B1FA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27300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11480"/>
            <a:ext cx="11045952" cy="1828800"/>
          </a:xfrm>
        </p:spPr>
        <p:txBody>
          <a:bodyPr anchor="t">
            <a:normAutofit/>
          </a:bodyPr>
          <a:lstStyle>
            <a:lvl1pPr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2784" y="2423160"/>
            <a:ext cx="5202936" cy="385876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dirty="0"/>
            </a:lvl1pPr>
            <a:lvl2pPr marL="571500" indent="-342900">
              <a:buFont typeface="+mj-lt"/>
              <a:buAutoNum type="alphaLcPeriod"/>
              <a:defRPr lang="en-US" dirty="0"/>
            </a:lvl2pPr>
            <a:lvl3pPr marL="800100" indent="-342900">
              <a:buFont typeface="+mj-lt"/>
              <a:buAutoNum type="romanLcPeriod"/>
              <a:defRPr lang="en-US" dirty="0"/>
            </a:lvl3pPr>
            <a:lvl4pPr marL="914400" indent="-228600">
              <a:buFont typeface="+mj-lt"/>
              <a:buAutoNum type="arabicParenR"/>
              <a:defRPr lang="en-US" dirty="0"/>
            </a:lvl4pPr>
            <a:lvl5pPr marL="1143000" indent="-228600">
              <a:buFont typeface="+mj-lt"/>
              <a:buAutoNum type="alphaLcParenR"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4D5D5-F2FF-4BCB-BACC-FA9A736697CB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53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006" y="998230"/>
            <a:ext cx="3951469" cy="1947672"/>
          </a:xfrm>
        </p:spPr>
        <p:txBody>
          <a:bodyPr anchor="b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DD60ACDC-1760-F721-E270-0D2FC4872D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002464" cy="6399152"/>
          </a:xfrm>
          <a:custGeom>
            <a:avLst/>
            <a:gdLst>
              <a:gd name="connsiteX0" fmla="*/ 0 w 7002464"/>
              <a:gd name="connsiteY0" fmla="*/ 0 h 6399152"/>
              <a:gd name="connsiteX1" fmla="*/ 7002464 w 7002464"/>
              <a:gd name="connsiteY1" fmla="*/ 0 h 6399152"/>
              <a:gd name="connsiteX2" fmla="*/ 7002464 w 7002464"/>
              <a:gd name="connsiteY2" fmla="*/ 5797156 h 6399152"/>
              <a:gd name="connsiteX3" fmla="*/ 6400468 w 7002464"/>
              <a:gd name="connsiteY3" fmla="*/ 6399152 h 6399152"/>
              <a:gd name="connsiteX4" fmla="*/ 0 w 7002464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02464" h="6399152">
                <a:moveTo>
                  <a:pt x="0" y="0"/>
                </a:moveTo>
                <a:lnTo>
                  <a:pt x="7002464" y="0"/>
                </a:lnTo>
                <a:lnTo>
                  <a:pt x="7002464" y="5797156"/>
                </a:lnTo>
                <a:cubicBezTo>
                  <a:pt x="7002464" y="6129629"/>
                  <a:pt x="6732941" y="6399152"/>
                  <a:pt x="6400468" y="6399152"/>
                </a:cubicBezTo>
                <a:lnTo>
                  <a:pt x="0" y="6399152"/>
                </a:lnTo>
                <a:close/>
              </a:path>
            </a:pathLst>
          </a:custGeom>
          <a:blipFill dpi="0"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1007" y="3099815"/>
            <a:ext cx="3951469" cy="3084599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lphaLcPeriod"/>
              <a:defRPr sz="1600"/>
            </a:lvl2pPr>
            <a:lvl3pPr marL="800100" indent="-342900">
              <a:buFont typeface="+mj-lt"/>
              <a:buAutoNum type="romanLcPeriod"/>
              <a:defRPr sz="1400"/>
            </a:lvl3pPr>
            <a:lvl4pPr marL="914400" indent="-228600">
              <a:buFont typeface="+mj-lt"/>
              <a:buAutoNum type="arabicParenR"/>
              <a:defRPr sz="1200"/>
            </a:lvl4pPr>
            <a:lvl5pPr marL="1143000" indent="-228600">
              <a:buFont typeface="+mj-lt"/>
              <a:buAutoNum type="alphaLcParenR"/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747D10D-DAA6-49BD-BCDC-42DE71F72A8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6219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478024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478024"/>
            <a:ext cx="4325112" cy="245479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Click to edit Master text styles</a:t>
            </a:r>
          </a:p>
          <a:p>
            <a:pPr marL="4572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Second level</a:t>
            </a:r>
          </a:p>
          <a:p>
            <a:pPr marL="6858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Third level</a:t>
            </a:r>
          </a:p>
          <a:p>
            <a:pPr marL="9144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Fourth level</a:t>
            </a:r>
          </a:p>
          <a:p>
            <a:pPr marL="11430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131313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9C55D-C47D-42B9-AD20-3E2CCE08596C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64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2039112"/>
            <a:ext cx="3813048" cy="353872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2039112"/>
            <a:ext cx="5047488" cy="35387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A44AD-1FB0-4882-B380-D102D5E41B4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3955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00200"/>
            <a:ext cx="4142232" cy="46360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1600200"/>
            <a:ext cx="5788152" cy="46360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1FD0E9-BB2A-40F4-9FCA-339953EA9BCB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2763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640079"/>
            <a:ext cx="4032505" cy="3621024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22392" y="640715"/>
            <a:ext cx="5968098" cy="5719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DCE86-7B4C-43EC-801D-4B957536C306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27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40080"/>
            <a:ext cx="3493008" cy="3621024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25696" y="640080"/>
            <a:ext cx="7159752" cy="572414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3FCD9-BE24-4676-9D2E-63D9ED82EDA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0171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29450"/>
            <a:ext cx="11924209" cy="6199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CA290A-121B-47D5-B4CD-63E70D76A5D5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6442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448056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7" y="2276856"/>
            <a:ext cx="448056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E823DF8-AABE-3B17-254E-81CD7CA2B5B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4" y="0"/>
            <a:ext cx="6454406" cy="6399152"/>
          </a:xfrm>
          <a:custGeom>
            <a:avLst/>
            <a:gdLst>
              <a:gd name="connsiteX0" fmla="*/ 0 w 6454406"/>
              <a:gd name="connsiteY0" fmla="*/ 0 h 6399152"/>
              <a:gd name="connsiteX1" fmla="*/ 6454406 w 6454406"/>
              <a:gd name="connsiteY1" fmla="*/ 0 h 6399152"/>
              <a:gd name="connsiteX2" fmla="*/ 6454406 w 6454406"/>
              <a:gd name="connsiteY2" fmla="*/ 6399152 h 6399152"/>
              <a:gd name="connsiteX3" fmla="*/ 601995 w 6454406"/>
              <a:gd name="connsiteY3" fmla="*/ 6399152 h 6399152"/>
              <a:gd name="connsiteX4" fmla="*/ 0 w 6454406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6" h="6399152">
                <a:moveTo>
                  <a:pt x="0" y="0"/>
                </a:moveTo>
                <a:lnTo>
                  <a:pt x="6454406" y="0"/>
                </a:lnTo>
                <a:lnTo>
                  <a:pt x="6454406" y="6399152"/>
                </a:lnTo>
                <a:lnTo>
                  <a:pt x="601995" y="6399152"/>
                </a:lnTo>
                <a:cubicBezTo>
                  <a:pt x="269522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A58D8-7EDF-40A6-A98C-8CBDF59A319E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6822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601755"/>
            <a:ext cx="4389120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6F26914B-7405-10AB-A859-8165D7B1A9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"/>
            <a:ext cx="6591300" cy="6410303"/>
          </a:xfrm>
          <a:custGeom>
            <a:avLst/>
            <a:gdLst>
              <a:gd name="connsiteX0" fmla="*/ 0 w 6591300"/>
              <a:gd name="connsiteY0" fmla="*/ 0 h 6410303"/>
              <a:gd name="connsiteX1" fmla="*/ 6591300 w 6591300"/>
              <a:gd name="connsiteY1" fmla="*/ 0 h 6410303"/>
              <a:gd name="connsiteX2" fmla="*/ 6591300 w 6591300"/>
              <a:gd name="connsiteY2" fmla="*/ 5807073 h 6410303"/>
              <a:gd name="connsiteX3" fmla="*/ 5988070 w 6591300"/>
              <a:gd name="connsiteY3" fmla="*/ 6410303 h 6410303"/>
              <a:gd name="connsiteX4" fmla="*/ 0 w 6591300"/>
              <a:gd name="connsiteY4" fmla="*/ 6410303 h 6410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410303">
                <a:moveTo>
                  <a:pt x="0" y="0"/>
                </a:moveTo>
                <a:lnTo>
                  <a:pt x="6591300" y="0"/>
                </a:lnTo>
                <a:lnTo>
                  <a:pt x="6591300" y="5807073"/>
                </a:lnTo>
                <a:cubicBezTo>
                  <a:pt x="6591300" y="6140228"/>
                  <a:pt x="6321225" y="6410303"/>
                  <a:pt x="5988070" y="6410303"/>
                </a:cubicBezTo>
                <a:lnTo>
                  <a:pt x="0" y="6410303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2276856"/>
            <a:ext cx="4389120" cy="40416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DF7C3E-B5DF-4043-B2F9-CD94B277B81B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0649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58FA1BA0-D099-705F-F85E-3FBC782F76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502843" y="2"/>
            <a:ext cx="7689157" cy="6399151"/>
          </a:xfrm>
          <a:custGeom>
            <a:avLst/>
            <a:gdLst>
              <a:gd name="connsiteX0" fmla="*/ 0 w 7689157"/>
              <a:gd name="connsiteY0" fmla="*/ 0 h 6399151"/>
              <a:gd name="connsiteX1" fmla="*/ 7689157 w 7689157"/>
              <a:gd name="connsiteY1" fmla="*/ 0 h 6399151"/>
              <a:gd name="connsiteX2" fmla="*/ 7689157 w 7689157"/>
              <a:gd name="connsiteY2" fmla="*/ 6399151 h 6399151"/>
              <a:gd name="connsiteX3" fmla="*/ 601997 w 7689157"/>
              <a:gd name="connsiteY3" fmla="*/ 6399151 h 6399151"/>
              <a:gd name="connsiteX4" fmla="*/ 0 w 7689157"/>
              <a:gd name="connsiteY4" fmla="*/ 5797155 h 6399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1">
                <a:moveTo>
                  <a:pt x="0" y="0"/>
                </a:moveTo>
                <a:lnTo>
                  <a:pt x="7689157" y="0"/>
                </a:lnTo>
                <a:lnTo>
                  <a:pt x="7689157" y="6399151"/>
                </a:lnTo>
                <a:lnTo>
                  <a:pt x="601997" y="6399151"/>
                </a:lnTo>
                <a:cubicBezTo>
                  <a:pt x="269523" y="6399151"/>
                  <a:pt x="0" y="6129628"/>
                  <a:pt x="0" y="5797155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4F04B89-F088-43E2-8F95-5A2E5E9F612E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2827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0" y="603504"/>
            <a:ext cx="340156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F44EE1A0-D83B-FE6C-4495-F55C5070D5D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21040" y="2276856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FF8D-E3E3-4D6C-85D1-1D24204FD961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8891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0696DEB7-ADC8-3E90-7A63-F11D6535D0E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3806246"/>
          </a:xfrm>
          <a:custGeom>
            <a:avLst/>
            <a:gdLst>
              <a:gd name="connsiteX0" fmla="*/ 0 w 11733150"/>
              <a:gd name="connsiteY0" fmla="*/ 0 h 3806246"/>
              <a:gd name="connsiteX1" fmla="*/ 11733150 w 11733150"/>
              <a:gd name="connsiteY1" fmla="*/ 0 h 3806246"/>
              <a:gd name="connsiteX2" fmla="*/ 11733150 w 11733150"/>
              <a:gd name="connsiteY2" fmla="*/ 3204250 h 3806246"/>
              <a:gd name="connsiteX3" fmla="*/ 11131154 w 11733150"/>
              <a:gd name="connsiteY3" fmla="*/ 3806246 h 3806246"/>
              <a:gd name="connsiteX4" fmla="*/ 0 w 11733150"/>
              <a:gd name="connsiteY4" fmla="*/ 3806246 h 38062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33150" h="3806246">
                <a:moveTo>
                  <a:pt x="0" y="0"/>
                </a:moveTo>
                <a:lnTo>
                  <a:pt x="11733150" y="0"/>
                </a:lnTo>
                <a:lnTo>
                  <a:pt x="11733150" y="3204250"/>
                </a:lnTo>
                <a:cubicBezTo>
                  <a:pt x="11733150" y="3536723"/>
                  <a:pt x="11463627" y="3806246"/>
                  <a:pt x="11131154" y="3806246"/>
                </a:cubicBezTo>
                <a:lnTo>
                  <a:pt x="0" y="380624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9AD81-0F74-4052-9D15-1FCBE10FF531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9932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0558516-7088-BB33-D6DC-15ED4C60CBA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1960" y="3067414"/>
            <a:ext cx="11750040" cy="3790586"/>
          </a:xfrm>
          <a:custGeom>
            <a:avLst/>
            <a:gdLst>
              <a:gd name="connsiteX0" fmla="*/ 603695 w 11750040"/>
              <a:gd name="connsiteY0" fmla="*/ 0 h 3790586"/>
              <a:gd name="connsiteX1" fmla="*/ 11750040 w 11750040"/>
              <a:gd name="connsiteY1" fmla="*/ 0 h 3790586"/>
              <a:gd name="connsiteX2" fmla="*/ 11750040 w 11750040"/>
              <a:gd name="connsiteY2" fmla="*/ 3790586 h 3790586"/>
              <a:gd name="connsiteX3" fmla="*/ 0 w 11750040"/>
              <a:gd name="connsiteY3" fmla="*/ 3790586 h 3790586"/>
              <a:gd name="connsiteX4" fmla="*/ 0 w 11750040"/>
              <a:gd name="connsiteY4" fmla="*/ 603695 h 3790586"/>
              <a:gd name="connsiteX5" fmla="*/ 603695 w 11750040"/>
              <a:gd name="connsiteY5" fmla="*/ 0 h 3790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50040" h="3790586">
                <a:moveTo>
                  <a:pt x="603695" y="0"/>
                </a:moveTo>
                <a:lnTo>
                  <a:pt x="11750040" y="0"/>
                </a:lnTo>
                <a:lnTo>
                  <a:pt x="11750040" y="3790586"/>
                </a:lnTo>
                <a:lnTo>
                  <a:pt x="0" y="3790586"/>
                </a:lnTo>
                <a:lnTo>
                  <a:pt x="0" y="603695"/>
                </a:lnTo>
                <a:cubicBezTo>
                  <a:pt x="0" y="270283"/>
                  <a:pt x="270283" y="0"/>
                  <a:pt x="603695" y="0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40460"/>
            <a:ext cx="3494314" cy="338328"/>
          </a:xfrm>
        </p:spPr>
        <p:txBody>
          <a:bodyPr/>
          <a:lstStyle/>
          <a:p>
            <a:fld id="{58567813-D47B-4BA9-A366-45E7794B6608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40460"/>
            <a:ext cx="2805405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40460"/>
            <a:ext cx="429207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246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073E866-A871-62F7-1E54-F2A44278F8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7734300" cy="6399152"/>
          </a:xfrm>
          <a:custGeom>
            <a:avLst/>
            <a:gdLst>
              <a:gd name="connsiteX0" fmla="*/ 0 w 7734300"/>
              <a:gd name="connsiteY0" fmla="*/ 0 h 6399152"/>
              <a:gd name="connsiteX1" fmla="*/ 7734300 w 7734300"/>
              <a:gd name="connsiteY1" fmla="*/ 0 h 6399152"/>
              <a:gd name="connsiteX2" fmla="*/ 7734300 w 7734300"/>
              <a:gd name="connsiteY2" fmla="*/ 5797156 h 6399152"/>
              <a:gd name="connsiteX3" fmla="*/ 7132304 w 7734300"/>
              <a:gd name="connsiteY3" fmla="*/ 6399152 h 6399152"/>
              <a:gd name="connsiteX4" fmla="*/ 0 w 7734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34300" h="6399152">
                <a:moveTo>
                  <a:pt x="0" y="0"/>
                </a:moveTo>
                <a:lnTo>
                  <a:pt x="7734300" y="0"/>
                </a:lnTo>
                <a:lnTo>
                  <a:pt x="7734300" y="5797156"/>
                </a:lnTo>
                <a:cubicBezTo>
                  <a:pt x="7734300" y="6129629"/>
                  <a:pt x="7464777" y="6399152"/>
                  <a:pt x="7132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3099816"/>
            <a:ext cx="3273552" cy="295351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628650" indent="-171450">
              <a:buFont typeface="Arial" panose="020B0604020202020204" pitchFamily="34" charset="0"/>
              <a:buChar char="•"/>
              <a:defRPr sz="1200"/>
            </a:lvl3pPr>
            <a:lvl4pPr marL="857250" indent="-171450">
              <a:buFont typeface="Arial" panose="020B0604020202020204" pitchFamily="34" charset="0"/>
              <a:buChar char="•"/>
              <a:defRPr sz="1100"/>
            </a:lvl4pPr>
            <a:lvl5pPr marL="1085850" indent="-171450">
              <a:buFont typeface="Arial" panose="020B0604020202020204" pitchFamily="34" charset="0"/>
              <a:buChar char="•"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3C75A4F-7395-44C0-9A76-83F0F6EA512A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6907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111854"/>
            <a:ext cx="3945468" cy="138988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84372" y="5111854"/>
            <a:ext cx="6168356" cy="1389888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200"/>
            </a:lvl2pPr>
            <a:lvl3pPr marL="457200" indent="0">
              <a:buFont typeface="Arial" panose="020B0604020202020204" pitchFamily="34" charset="0"/>
              <a:buNone/>
              <a:defRPr sz="1100"/>
            </a:lvl3pPr>
            <a:lvl4pPr marL="685800" indent="0">
              <a:buFont typeface="Arial" panose="020B0604020202020204" pitchFamily="34" charset="0"/>
              <a:buNone/>
              <a:defRPr sz="1050"/>
            </a:lvl4pPr>
            <a:lvl5pPr marL="9144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15B30A2-D0D1-DED2-1133-A673CEA16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1750040" cy="4724868"/>
          </a:xfrm>
          <a:custGeom>
            <a:avLst/>
            <a:gdLst>
              <a:gd name="connsiteX0" fmla="*/ 0 w 11750040"/>
              <a:gd name="connsiteY0" fmla="*/ 0 h 4724868"/>
              <a:gd name="connsiteX1" fmla="*/ 11750040 w 11750040"/>
              <a:gd name="connsiteY1" fmla="*/ 0 h 4724868"/>
              <a:gd name="connsiteX2" fmla="*/ 11750040 w 11750040"/>
              <a:gd name="connsiteY2" fmla="*/ 4122872 h 4724868"/>
              <a:gd name="connsiteX3" fmla="*/ 11148044 w 11750040"/>
              <a:gd name="connsiteY3" fmla="*/ 4724868 h 4724868"/>
              <a:gd name="connsiteX4" fmla="*/ 0 w 11750040"/>
              <a:gd name="connsiteY4" fmla="*/ 4724868 h 4724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50040" h="4724868">
                <a:moveTo>
                  <a:pt x="0" y="0"/>
                </a:moveTo>
                <a:lnTo>
                  <a:pt x="11750040" y="0"/>
                </a:lnTo>
                <a:lnTo>
                  <a:pt x="11750040" y="4122872"/>
                </a:lnTo>
                <a:cubicBezTo>
                  <a:pt x="11750040" y="4455345"/>
                  <a:pt x="11480517" y="4724868"/>
                  <a:pt x="11148044" y="4724868"/>
                </a:cubicBezTo>
                <a:lnTo>
                  <a:pt x="0" y="4724868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EEDCC-520A-464B-900A-5F7E0E1FFC43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1527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0408" y="548640"/>
            <a:ext cx="6035040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1AB8ED2-AD91-CB22-5624-BD41AB32529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844052" cy="6399152"/>
          </a:xfrm>
          <a:custGeom>
            <a:avLst/>
            <a:gdLst>
              <a:gd name="connsiteX0" fmla="*/ 0 w 4844052"/>
              <a:gd name="connsiteY0" fmla="*/ 0 h 6399152"/>
              <a:gd name="connsiteX1" fmla="*/ 4844052 w 4844052"/>
              <a:gd name="connsiteY1" fmla="*/ 0 h 6399152"/>
              <a:gd name="connsiteX2" fmla="*/ 4844052 w 4844052"/>
              <a:gd name="connsiteY2" fmla="*/ 5795922 h 6399152"/>
              <a:gd name="connsiteX3" fmla="*/ 4240822 w 4844052"/>
              <a:gd name="connsiteY3" fmla="*/ 6399152 h 6399152"/>
              <a:gd name="connsiteX4" fmla="*/ 0 w 4844052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44052" h="6399152">
                <a:moveTo>
                  <a:pt x="0" y="0"/>
                </a:moveTo>
                <a:lnTo>
                  <a:pt x="4844052" y="0"/>
                </a:lnTo>
                <a:lnTo>
                  <a:pt x="4844052" y="5795922"/>
                </a:lnTo>
                <a:cubicBezTo>
                  <a:pt x="4844052" y="6129077"/>
                  <a:pt x="4573977" y="6399152"/>
                  <a:pt x="4240822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50408" y="1828800"/>
            <a:ext cx="6035040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6C1D43-E95A-44CE-BF39-AC264176BC74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5002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D436AA50-FCF9-9A32-68F8-A124C794908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53304" y="0"/>
            <a:ext cx="4838696" cy="6399152"/>
          </a:xfrm>
          <a:custGeom>
            <a:avLst/>
            <a:gdLst>
              <a:gd name="connsiteX0" fmla="*/ 0 w 4838696"/>
              <a:gd name="connsiteY0" fmla="*/ 0 h 6399152"/>
              <a:gd name="connsiteX1" fmla="*/ 4838696 w 4838696"/>
              <a:gd name="connsiteY1" fmla="*/ 0 h 6399152"/>
              <a:gd name="connsiteX2" fmla="*/ 4838696 w 4838696"/>
              <a:gd name="connsiteY2" fmla="*/ 6399152 h 6399152"/>
              <a:gd name="connsiteX3" fmla="*/ 603230 w 4838696"/>
              <a:gd name="connsiteY3" fmla="*/ 6399152 h 6399152"/>
              <a:gd name="connsiteX4" fmla="*/ 0 w 4838696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38696" h="6399152">
                <a:moveTo>
                  <a:pt x="0" y="0"/>
                </a:moveTo>
                <a:lnTo>
                  <a:pt x="4838696" y="0"/>
                </a:lnTo>
                <a:lnTo>
                  <a:pt x="4838696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395D-714C-468A-B505-16E3BDC41D6C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3100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6328" y="320040"/>
            <a:ext cx="438912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6B8A8E1B-B99E-8C69-154E-2FAADB07D51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591300" cy="6399152"/>
          </a:xfrm>
          <a:custGeom>
            <a:avLst/>
            <a:gdLst>
              <a:gd name="connsiteX0" fmla="*/ 0 w 6591300"/>
              <a:gd name="connsiteY0" fmla="*/ 0 h 6399152"/>
              <a:gd name="connsiteX1" fmla="*/ 6591300 w 6591300"/>
              <a:gd name="connsiteY1" fmla="*/ 0 h 6399152"/>
              <a:gd name="connsiteX2" fmla="*/ 6591300 w 6591300"/>
              <a:gd name="connsiteY2" fmla="*/ 5797156 h 6399152"/>
              <a:gd name="connsiteX3" fmla="*/ 5989304 w 6591300"/>
              <a:gd name="connsiteY3" fmla="*/ 6399152 h 6399152"/>
              <a:gd name="connsiteX4" fmla="*/ 0 w 6591300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91300" h="6399152">
                <a:moveTo>
                  <a:pt x="0" y="0"/>
                </a:moveTo>
                <a:lnTo>
                  <a:pt x="6591300" y="0"/>
                </a:lnTo>
                <a:lnTo>
                  <a:pt x="6591300" y="5797156"/>
                </a:lnTo>
                <a:cubicBezTo>
                  <a:pt x="6591300" y="6129629"/>
                  <a:pt x="6321777" y="6399152"/>
                  <a:pt x="5989304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6328" y="1380744"/>
            <a:ext cx="438912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009D615-5030-44BE-B1E7-FCAF557FFC34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644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320040"/>
            <a:ext cx="4573413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6" y="1380744"/>
            <a:ext cx="4573413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BD82EEA-7278-1A73-C95C-473F75B5404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37593" y="0"/>
            <a:ext cx="6454407" cy="6399152"/>
          </a:xfrm>
          <a:custGeom>
            <a:avLst/>
            <a:gdLst>
              <a:gd name="connsiteX0" fmla="*/ 0 w 6454407"/>
              <a:gd name="connsiteY0" fmla="*/ 0 h 6399152"/>
              <a:gd name="connsiteX1" fmla="*/ 6454407 w 6454407"/>
              <a:gd name="connsiteY1" fmla="*/ 0 h 6399152"/>
              <a:gd name="connsiteX2" fmla="*/ 6454407 w 6454407"/>
              <a:gd name="connsiteY2" fmla="*/ 6399152 h 6399152"/>
              <a:gd name="connsiteX3" fmla="*/ 601996 w 6454407"/>
              <a:gd name="connsiteY3" fmla="*/ 6399152 h 6399152"/>
              <a:gd name="connsiteX4" fmla="*/ 0 w 6454407"/>
              <a:gd name="connsiteY4" fmla="*/ 5797156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54407" h="6399152">
                <a:moveTo>
                  <a:pt x="0" y="0"/>
                </a:moveTo>
                <a:lnTo>
                  <a:pt x="6454407" y="0"/>
                </a:lnTo>
                <a:lnTo>
                  <a:pt x="6454407" y="6399152"/>
                </a:lnTo>
                <a:lnTo>
                  <a:pt x="601996" y="6399152"/>
                </a:lnTo>
                <a:cubicBezTo>
                  <a:pt x="269523" y="6399152"/>
                  <a:pt x="0" y="6129629"/>
                  <a:pt x="0" y="5797156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D8DDD-BB5E-4F5B-81F2-5E5F98B403C0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8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603504"/>
            <a:ext cx="11155680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9C22D85-D675-737B-9F54-B9D7FC81919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828800"/>
            <a:ext cx="6707699" cy="5029200"/>
          </a:xfrm>
          <a:custGeom>
            <a:avLst/>
            <a:gdLst>
              <a:gd name="connsiteX0" fmla="*/ 0 w 6707699"/>
              <a:gd name="connsiteY0" fmla="*/ 0 h 5029200"/>
              <a:gd name="connsiteX1" fmla="*/ 6129259 w 6707699"/>
              <a:gd name="connsiteY1" fmla="*/ 0 h 5029200"/>
              <a:gd name="connsiteX2" fmla="*/ 6707699 w 6707699"/>
              <a:gd name="connsiteY2" fmla="*/ 578440 h 5029200"/>
              <a:gd name="connsiteX3" fmla="*/ 6707699 w 6707699"/>
              <a:gd name="connsiteY3" fmla="*/ 5029200 h 5029200"/>
              <a:gd name="connsiteX4" fmla="*/ 0 w 6707699"/>
              <a:gd name="connsiteY4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07699" h="5029200">
                <a:moveTo>
                  <a:pt x="0" y="0"/>
                </a:moveTo>
                <a:lnTo>
                  <a:pt x="6129259" y="0"/>
                </a:lnTo>
                <a:cubicBezTo>
                  <a:pt x="6448723" y="0"/>
                  <a:pt x="6707699" y="258976"/>
                  <a:pt x="6707699" y="578440"/>
                </a:cubicBezTo>
                <a:lnTo>
                  <a:pt x="6707699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89302" y="1828800"/>
            <a:ext cx="4196146" cy="450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89302" y="6492240"/>
            <a:ext cx="1280160" cy="338328"/>
          </a:xfrm>
        </p:spPr>
        <p:txBody>
          <a:bodyPr/>
          <a:lstStyle/>
          <a:p>
            <a:fld id="{083588C5-4E32-4E6E-80AB-32A6125C957F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462" y="6492240"/>
            <a:ext cx="288855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9936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076" y="320040"/>
            <a:ext cx="676656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1B32E518-8213-A79A-7E36-BA4D782F8ED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147926" cy="6399152"/>
          </a:xfrm>
          <a:custGeom>
            <a:avLst/>
            <a:gdLst>
              <a:gd name="connsiteX0" fmla="*/ 0 w 4147926"/>
              <a:gd name="connsiteY0" fmla="*/ 0 h 6399152"/>
              <a:gd name="connsiteX1" fmla="*/ 4147926 w 4147926"/>
              <a:gd name="connsiteY1" fmla="*/ 0 h 6399152"/>
              <a:gd name="connsiteX2" fmla="*/ 4147926 w 4147926"/>
              <a:gd name="connsiteY2" fmla="*/ 5795922 h 6399152"/>
              <a:gd name="connsiteX3" fmla="*/ 3544696 w 4147926"/>
              <a:gd name="connsiteY3" fmla="*/ 6399152 h 6399152"/>
              <a:gd name="connsiteX4" fmla="*/ 0 w 4147926"/>
              <a:gd name="connsiteY4" fmla="*/ 639915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7926" h="6399152">
                <a:moveTo>
                  <a:pt x="0" y="0"/>
                </a:moveTo>
                <a:lnTo>
                  <a:pt x="4147926" y="0"/>
                </a:lnTo>
                <a:lnTo>
                  <a:pt x="4147926" y="5795922"/>
                </a:lnTo>
                <a:cubicBezTo>
                  <a:pt x="4147926" y="6129077"/>
                  <a:pt x="3877851" y="6399152"/>
                  <a:pt x="3544696" y="6399152"/>
                </a:cubicBezTo>
                <a:lnTo>
                  <a:pt x="0" y="6399152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20076" y="1380744"/>
            <a:ext cx="676656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337EAFE-6A88-4B1F-9ABC-CA3CFB830DD6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60639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2444857-0BC3-ACAE-DBB1-5D530AA35ED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46768" y="0"/>
            <a:ext cx="4145232" cy="6399152"/>
          </a:xfrm>
          <a:custGeom>
            <a:avLst/>
            <a:gdLst>
              <a:gd name="connsiteX0" fmla="*/ 0 w 4145232"/>
              <a:gd name="connsiteY0" fmla="*/ 0 h 6399152"/>
              <a:gd name="connsiteX1" fmla="*/ 4145232 w 4145232"/>
              <a:gd name="connsiteY1" fmla="*/ 0 h 6399152"/>
              <a:gd name="connsiteX2" fmla="*/ 4145232 w 4145232"/>
              <a:gd name="connsiteY2" fmla="*/ 6399152 h 6399152"/>
              <a:gd name="connsiteX3" fmla="*/ 603230 w 4145232"/>
              <a:gd name="connsiteY3" fmla="*/ 6399152 h 6399152"/>
              <a:gd name="connsiteX4" fmla="*/ 0 w 4145232"/>
              <a:gd name="connsiteY4" fmla="*/ 579592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45232" h="6399152">
                <a:moveTo>
                  <a:pt x="0" y="0"/>
                </a:moveTo>
                <a:lnTo>
                  <a:pt x="4145232" y="0"/>
                </a:lnTo>
                <a:lnTo>
                  <a:pt x="4145232" y="6399152"/>
                </a:lnTo>
                <a:lnTo>
                  <a:pt x="603230" y="6399152"/>
                </a:lnTo>
                <a:cubicBezTo>
                  <a:pt x="270075" y="6399152"/>
                  <a:pt x="0" y="6129077"/>
                  <a:pt x="0" y="579592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70683-5F2F-44F3-8B59-45258C4FD45A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5523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C202BC3A-8633-9F03-1586-99447DA1CF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6"/>
            <a:ext cx="5285232" cy="4564504"/>
          </a:xfrm>
          <a:custGeom>
            <a:avLst/>
            <a:gdLst>
              <a:gd name="connsiteX0" fmla="*/ 0 w 5285232"/>
              <a:gd name="connsiteY0" fmla="*/ 0 h 4564504"/>
              <a:gd name="connsiteX1" fmla="*/ 4706792 w 5285232"/>
              <a:gd name="connsiteY1" fmla="*/ 0 h 4564504"/>
              <a:gd name="connsiteX2" fmla="*/ 5285232 w 5285232"/>
              <a:gd name="connsiteY2" fmla="*/ 578440 h 4564504"/>
              <a:gd name="connsiteX3" fmla="*/ 5285232 w 5285232"/>
              <a:gd name="connsiteY3" fmla="*/ 4564504 h 4564504"/>
              <a:gd name="connsiteX4" fmla="*/ 0 w 5285232"/>
              <a:gd name="connsiteY4" fmla="*/ 4564504 h 45645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5232" h="4564504">
                <a:moveTo>
                  <a:pt x="0" y="0"/>
                </a:moveTo>
                <a:lnTo>
                  <a:pt x="4706792" y="0"/>
                </a:lnTo>
                <a:cubicBezTo>
                  <a:pt x="5026256" y="0"/>
                  <a:pt x="5285232" y="258976"/>
                  <a:pt x="5285232" y="578440"/>
                </a:cubicBezTo>
                <a:lnTo>
                  <a:pt x="5285232" y="4564504"/>
                </a:lnTo>
                <a:lnTo>
                  <a:pt x="0" y="4564504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/>
          <a:lstStyle/>
          <a:p>
            <a:fld id="{813EDC87-0EBE-4D2E-8804-E5F0EDA0B797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0518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0218"/>
            <a:ext cx="3827439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211327B-3880-6494-1C8F-EEE1BF913B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2293494"/>
            <a:ext cx="4176819" cy="4564506"/>
          </a:xfrm>
          <a:custGeom>
            <a:avLst/>
            <a:gdLst>
              <a:gd name="connsiteX0" fmla="*/ 0 w 4176819"/>
              <a:gd name="connsiteY0" fmla="*/ 0 h 4564506"/>
              <a:gd name="connsiteX1" fmla="*/ 3598379 w 4176819"/>
              <a:gd name="connsiteY1" fmla="*/ 0 h 4564506"/>
              <a:gd name="connsiteX2" fmla="*/ 4176819 w 4176819"/>
              <a:gd name="connsiteY2" fmla="*/ 578440 h 4564506"/>
              <a:gd name="connsiteX3" fmla="*/ 4176819 w 4176819"/>
              <a:gd name="connsiteY3" fmla="*/ 4564506 h 4564506"/>
              <a:gd name="connsiteX4" fmla="*/ 0 w 4176819"/>
              <a:gd name="connsiteY4" fmla="*/ 4564506 h 4564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76819" h="4564506">
                <a:moveTo>
                  <a:pt x="0" y="0"/>
                </a:moveTo>
                <a:lnTo>
                  <a:pt x="3598379" y="0"/>
                </a:lnTo>
                <a:cubicBezTo>
                  <a:pt x="3917843" y="0"/>
                  <a:pt x="4176819" y="258976"/>
                  <a:pt x="4176819" y="578440"/>
                </a:cubicBezTo>
                <a:lnTo>
                  <a:pt x="4176819" y="4564506"/>
                </a:lnTo>
                <a:lnTo>
                  <a:pt x="0" y="4564506"/>
                </a:ln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20787" y="549275"/>
            <a:ext cx="6561138" cy="5788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15073" y="6492240"/>
            <a:ext cx="2843784" cy="338328"/>
          </a:xfrm>
        </p:spPr>
        <p:txBody>
          <a:bodyPr/>
          <a:lstStyle/>
          <a:p>
            <a:fld id="{51CF56A9-FD41-47F4-80A0-DA74EEEC2541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880844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76" y="603504"/>
            <a:ext cx="11201400" cy="4206240"/>
          </a:xfrm>
        </p:spPr>
        <p:txBody>
          <a:bodyPr>
            <a:normAutofit/>
          </a:bodyPr>
          <a:lstStyle>
            <a:lvl1pPr algn="ctr">
              <a:defRPr sz="27800"/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BD270-9BF1-4C68-A7FA-BA016D8BB95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89888" y="4809744"/>
            <a:ext cx="9345168" cy="1225296"/>
          </a:xfrm>
        </p:spPr>
        <p:txBody>
          <a:bodyPr>
            <a:normAutofit/>
          </a:bodyPr>
          <a:lstStyle>
            <a:lvl1pPr marL="0" indent="0" algn="ctr">
              <a:buNone/>
              <a:defRPr sz="2800" cap="all" baseline="0"/>
            </a:lvl1pPr>
            <a:lvl2pPr marL="228600" indent="0" algn="ctr">
              <a:buNone/>
              <a:defRPr sz="2400" cap="all" baseline="0"/>
            </a:lvl2pPr>
            <a:lvl3pPr marL="457200" indent="0" algn="ctr">
              <a:buNone/>
              <a:defRPr sz="2000" cap="all" baseline="0"/>
            </a:lvl3pPr>
            <a:lvl4pPr marL="685800" indent="0" algn="ctr">
              <a:buNone/>
              <a:defRPr sz="1800" cap="all" baseline="0"/>
            </a:lvl4pPr>
            <a:lvl5pPr marL="914400" indent="0" algn="ctr">
              <a:buNone/>
              <a:defRPr sz="1600" cap="all" baseline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375855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23AFB7-90A6-428C-A019-BBE6272496B8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490472"/>
          </a:xfrm>
        </p:spPr>
        <p:txBody>
          <a:bodyPr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1900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193DB7D-955F-21DF-15DA-4285375617FC}"/>
              </a:ext>
            </a:extLst>
          </p:cNvPr>
          <p:cNvSpPr/>
          <p:nvPr userDrawn="1"/>
        </p:nvSpPr>
        <p:spPr>
          <a:xfrm>
            <a:off x="1" y="4783948"/>
            <a:ext cx="11762231" cy="2074052"/>
          </a:xfrm>
          <a:custGeom>
            <a:avLst/>
            <a:gdLst>
              <a:gd name="connsiteX0" fmla="*/ 0 w 11762231"/>
              <a:gd name="connsiteY0" fmla="*/ 0 h 2074052"/>
              <a:gd name="connsiteX1" fmla="*/ 112775 w 11762231"/>
              <a:gd name="connsiteY1" fmla="*/ 0 h 2074052"/>
              <a:gd name="connsiteX2" fmla="*/ 11102489 w 11762231"/>
              <a:gd name="connsiteY2" fmla="*/ 0 h 2074052"/>
              <a:gd name="connsiteX3" fmla="*/ 11437005 w 11762231"/>
              <a:gd name="connsiteY3" fmla="*/ 0 h 2074052"/>
              <a:gd name="connsiteX4" fmla="*/ 11762231 w 11762231"/>
              <a:gd name="connsiteY4" fmla="*/ 325226 h 2074052"/>
              <a:gd name="connsiteX5" fmla="*/ 11762231 w 11762231"/>
              <a:gd name="connsiteY5" fmla="*/ 2074052 h 2074052"/>
              <a:gd name="connsiteX6" fmla="*/ 11427715 w 11762231"/>
              <a:gd name="connsiteY6" fmla="*/ 2074052 h 2074052"/>
              <a:gd name="connsiteX7" fmla="*/ 112775 w 11762231"/>
              <a:gd name="connsiteY7" fmla="*/ 2074052 h 2074052"/>
              <a:gd name="connsiteX8" fmla="*/ 0 w 11762231"/>
              <a:gd name="connsiteY8" fmla="*/ 2074052 h 2074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762231" h="2074052">
                <a:moveTo>
                  <a:pt x="0" y="0"/>
                </a:moveTo>
                <a:lnTo>
                  <a:pt x="112775" y="0"/>
                </a:lnTo>
                <a:lnTo>
                  <a:pt x="11102489" y="0"/>
                </a:lnTo>
                <a:lnTo>
                  <a:pt x="11437005" y="0"/>
                </a:lnTo>
                <a:cubicBezTo>
                  <a:pt x="11616622" y="0"/>
                  <a:pt x="11762231" y="145609"/>
                  <a:pt x="11762231" y="325226"/>
                </a:cubicBezTo>
                <a:lnTo>
                  <a:pt x="11762231" y="2074052"/>
                </a:lnTo>
                <a:lnTo>
                  <a:pt x="11427715" y="2074052"/>
                </a:lnTo>
                <a:lnTo>
                  <a:pt x="112775" y="2074052"/>
                </a:lnTo>
                <a:lnTo>
                  <a:pt x="0" y="2074052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B8561-D435-07DE-2456-79994CDFB8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496" y="420624"/>
            <a:ext cx="11100816" cy="4334256"/>
          </a:xfrm>
        </p:spPr>
        <p:txBody>
          <a:bodyPr>
            <a:normAutofit/>
          </a:bodyPr>
          <a:lstStyle>
            <a:lvl1pPr algn="l">
              <a:defRPr sz="278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5DF3EE-4BB8-4215-E053-BF3ED1BB9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9E47A9E-7C3C-4663-841E-C89520FA85A3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3AE6E7-0083-439C-3FBC-ADE4BE86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0768" y="6492240"/>
            <a:ext cx="266090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27A3B-009A-1790-7D93-9A1F6351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3112" y="6492240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42AC33E-6837-F850-DF64-4475DAA059E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1792" y="4873752"/>
            <a:ext cx="8439912" cy="1589420"/>
          </a:xfrm>
        </p:spPr>
        <p:txBody>
          <a:bodyPr anchor="ctr">
            <a:normAutofit/>
          </a:bodyPr>
          <a:lstStyle>
            <a:lvl1pPr marL="0" indent="0" algn="l">
              <a:buNone/>
              <a:defRPr sz="2800" cap="all" baseline="0">
                <a:solidFill>
                  <a:schemeClr val="tx1"/>
                </a:solidFill>
              </a:defRPr>
            </a:lvl1pPr>
            <a:lvl2pPr marL="228600" indent="0" algn="l">
              <a:buNone/>
              <a:defRPr sz="2400" cap="all" baseline="0">
                <a:solidFill>
                  <a:schemeClr val="tx1"/>
                </a:solidFill>
              </a:defRPr>
            </a:lvl2pPr>
            <a:lvl3pPr marL="457200" indent="0" algn="l">
              <a:buNone/>
              <a:defRPr sz="2000" cap="all" baseline="0">
                <a:solidFill>
                  <a:schemeClr val="tx1"/>
                </a:solidFill>
              </a:defRPr>
            </a:lvl3pPr>
            <a:lvl4pPr marL="685800" indent="0" algn="l">
              <a:buNone/>
              <a:defRPr sz="1800" cap="all" baseline="0">
                <a:solidFill>
                  <a:schemeClr val="tx1"/>
                </a:solidFill>
              </a:defRPr>
            </a:lvl4pPr>
            <a:lvl5pPr marL="914400" indent="0" algn="l">
              <a:buNone/>
              <a:defRPr sz="1600" cap="all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23427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ED8FD-3F8D-425F-9991-7FB6FCCEC5A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9165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60B29AE-EBEF-71CC-AE38-3B2CD14FCA19}"/>
              </a:ext>
            </a:extLst>
          </p:cNvPr>
          <p:cNvSpPr/>
          <p:nvPr userDrawn="1"/>
        </p:nvSpPr>
        <p:spPr>
          <a:xfrm rot="5400000" flipV="1">
            <a:off x="-2566724" y="2566724"/>
            <a:ext cx="6399213" cy="1265765"/>
          </a:xfrm>
          <a:custGeom>
            <a:avLst/>
            <a:gdLst>
              <a:gd name="connsiteX0" fmla="*/ 0 w 6399213"/>
              <a:gd name="connsiteY0" fmla="*/ 0 h 1265765"/>
              <a:gd name="connsiteX1" fmla="*/ 0 w 6399213"/>
              <a:gd name="connsiteY1" fmla="*/ 1265765 h 1265765"/>
              <a:gd name="connsiteX2" fmla="*/ 5982881 w 6399213"/>
              <a:gd name="connsiteY2" fmla="*/ 1265765 h 1265765"/>
              <a:gd name="connsiteX3" fmla="*/ 6399213 w 6399213"/>
              <a:gd name="connsiteY3" fmla="*/ 849433 h 1265765"/>
              <a:gd name="connsiteX4" fmla="*/ 6399213 w 6399213"/>
              <a:gd name="connsiteY4" fmla="*/ 0 h 1265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99213" h="1265765">
                <a:moveTo>
                  <a:pt x="0" y="0"/>
                </a:moveTo>
                <a:lnTo>
                  <a:pt x="0" y="1265765"/>
                </a:lnTo>
                <a:lnTo>
                  <a:pt x="5982881" y="1265765"/>
                </a:lnTo>
                <a:cubicBezTo>
                  <a:pt x="6212815" y="1265765"/>
                  <a:pt x="6399213" y="1079367"/>
                  <a:pt x="6399213" y="849433"/>
                </a:cubicBezTo>
                <a:lnTo>
                  <a:pt x="6399213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6B3E3-A05B-4311-9C9A-DA8A512CAB97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98217" y="630935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662442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CEC059F-651D-D540-DF60-D6361D9C716B}"/>
              </a:ext>
            </a:extLst>
          </p:cNvPr>
          <p:cNvSpPr/>
          <p:nvPr userDrawn="1"/>
        </p:nvSpPr>
        <p:spPr>
          <a:xfrm flipV="1">
            <a:off x="1" y="6099048"/>
            <a:ext cx="10487111" cy="758952"/>
          </a:xfrm>
          <a:custGeom>
            <a:avLst/>
            <a:gdLst>
              <a:gd name="connsiteX0" fmla="*/ 0 w 10487111"/>
              <a:gd name="connsiteY0" fmla="*/ 758952 h 758952"/>
              <a:gd name="connsiteX1" fmla="*/ 10070779 w 10487111"/>
              <a:gd name="connsiteY1" fmla="*/ 758952 h 758952"/>
              <a:gd name="connsiteX2" fmla="*/ 10487111 w 10487111"/>
              <a:gd name="connsiteY2" fmla="*/ 342620 h 758952"/>
              <a:gd name="connsiteX3" fmla="*/ 10487111 w 10487111"/>
              <a:gd name="connsiteY3" fmla="*/ 0 h 758952"/>
              <a:gd name="connsiteX4" fmla="*/ 0 w 10487111"/>
              <a:gd name="connsiteY4" fmla="*/ 0 h 758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87111" h="758952">
                <a:moveTo>
                  <a:pt x="0" y="758952"/>
                </a:moveTo>
                <a:lnTo>
                  <a:pt x="10070779" y="758952"/>
                </a:lnTo>
                <a:cubicBezTo>
                  <a:pt x="10300713" y="758952"/>
                  <a:pt x="10487111" y="572554"/>
                  <a:pt x="10487111" y="342620"/>
                </a:cubicBezTo>
                <a:lnTo>
                  <a:pt x="1048711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FBAE2-1C27-41D0-8DBA-D202F753417F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68312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20656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83464" y="1596767"/>
            <a:ext cx="9537192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6000" b="1"/>
            </a:lvl1pPr>
            <a:lvl2pPr marL="228600" indent="0">
              <a:lnSpc>
                <a:spcPct val="100000"/>
              </a:lnSpc>
              <a:buNone/>
              <a:defRPr sz="5400" b="1"/>
            </a:lvl2pPr>
            <a:lvl3pPr marL="457200" indent="0">
              <a:lnSpc>
                <a:spcPct val="100000"/>
              </a:lnSpc>
              <a:buNone/>
              <a:defRPr sz="4800" b="1"/>
            </a:lvl3pPr>
            <a:lvl4pPr marL="685800" indent="0">
              <a:lnSpc>
                <a:spcPct val="100000"/>
              </a:lnSpc>
              <a:buNone/>
              <a:defRPr sz="4400" b="1"/>
            </a:lvl4pPr>
            <a:lvl5pPr marL="914400" indent="0">
              <a:lnSpc>
                <a:spcPct val="100000"/>
              </a:lnSpc>
              <a:buNone/>
              <a:defRPr sz="40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1990190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1524002"/>
            <a:ext cx="9198864" cy="2871216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40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3612-8941-41EA-ABBA-F717A06C8346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5376672"/>
            <a:ext cx="9198864" cy="466344"/>
          </a:xfrm>
        </p:spPr>
        <p:txBody>
          <a:bodyPr>
            <a:normAutofit/>
          </a:bodyPr>
          <a:lstStyle>
            <a:lvl1pPr marL="0" indent="0">
              <a:buNone/>
              <a:defRPr sz="2200" b="1" cap="all" baseline="0">
                <a:solidFill>
                  <a:schemeClr val="accent1"/>
                </a:solidFill>
              </a:defRPr>
            </a:lvl1pPr>
            <a:lvl2pPr marL="228600" indent="0">
              <a:buNone/>
              <a:defRPr sz="2000" b="1" cap="all" baseline="0">
                <a:solidFill>
                  <a:schemeClr val="accent1"/>
                </a:solidFill>
              </a:defRPr>
            </a:lvl2pPr>
            <a:lvl3pPr marL="457200" indent="0">
              <a:buNone/>
              <a:defRPr sz="1800" b="1" cap="all" baseline="0">
                <a:solidFill>
                  <a:schemeClr val="accent1"/>
                </a:solidFill>
              </a:defRPr>
            </a:lvl3pPr>
            <a:lvl4pPr marL="685800" indent="0">
              <a:buNone/>
              <a:defRPr sz="1600" b="1" cap="all" baseline="0">
                <a:solidFill>
                  <a:schemeClr val="accent1"/>
                </a:solidFill>
              </a:defRPr>
            </a:lvl4pPr>
            <a:lvl5pPr marL="914400" indent="0">
              <a:buNone/>
              <a:defRPr sz="1400" b="1" cap="all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8220766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D41517-889E-CBB7-FD17-C5FECA783B2A}"/>
              </a:ext>
            </a:extLst>
          </p:cNvPr>
          <p:cNvSpPr/>
          <p:nvPr userDrawn="1"/>
        </p:nvSpPr>
        <p:spPr>
          <a:xfrm flipV="1">
            <a:off x="0" y="823828"/>
            <a:ext cx="11385608" cy="6034172"/>
          </a:xfrm>
          <a:custGeom>
            <a:avLst/>
            <a:gdLst>
              <a:gd name="connsiteX0" fmla="*/ 0 w 11385608"/>
              <a:gd name="connsiteY0" fmla="*/ 6034172 h 6034172"/>
              <a:gd name="connsiteX1" fmla="*/ 10969276 w 11385608"/>
              <a:gd name="connsiteY1" fmla="*/ 6034172 h 6034172"/>
              <a:gd name="connsiteX2" fmla="*/ 11385608 w 11385608"/>
              <a:gd name="connsiteY2" fmla="*/ 5617840 h 6034172"/>
              <a:gd name="connsiteX3" fmla="*/ 11385608 w 11385608"/>
              <a:gd name="connsiteY3" fmla="*/ 0 h 6034172"/>
              <a:gd name="connsiteX4" fmla="*/ 0 w 11385608"/>
              <a:gd name="connsiteY4" fmla="*/ 0 h 603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85608" h="6034172">
                <a:moveTo>
                  <a:pt x="0" y="6034172"/>
                </a:moveTo>
                <a:lnTo>
                  <a:pt x="10969276" y="6034172"/>
                </a:lnTo>
                <a:cubicBezTo>
                  <a:pt x="11199210" y="6034172"/>
                  <a:pt x="11385608" y="5847774"/>
                  <a:pt x="11385608" y="5617840"/>
                </a:cubicBezTo>
                <a:lnTo>
                  <a:pt x="11385608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768" y="1783080"/>
            <a:ext cx="8499079" cy="2249424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600" cap="none" baseline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6CD22-E4B3-48A1-94CA-B89DB574ED80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9124" y="6492240"/>
            <a:ext cx="2660904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21468" y="6492240"/>
            <a:ext cx="457200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768" y="5120640"/>
            <a:ext cx="5431536" cy="1289304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b="1" cap="all" baseline="0" dirty="0"/>
            </a:lvl1pPr>
            <a:lvl2pPr marL="228600" indent="0">
              <a:buNone/>
              <a:defRPr lang="en-US" b="1" cap="all" baseline="0" dirty="0"/>
            </a:lvl2pPr>
            <a:lvl3pPr marL="457200" indent="0">
              <a:buNone/>
              <a:defRPr lang="en-US" b="1" cap="all" baseline="0" dirty="0"/>
            </a:lvl3pPr>
            <a:lvl4pPr marL="685800" indent="0">
              <a:buNone/>
              <a:defRPr lang="en-US" b="1" cap="all" baseline="0" dirty="0"/>
            </a:lvl4pPr>
            <a:lvl5pPr marL="914400" indent="0">
              <a:buNone/>
              <a:defRPr lang="en-US" b="1" cap="all" baseline="0" dirty="0"/>
            </a:lvl5pPr>
          </a:lstStyle>
          <a:p>
            <a:pPr lvl="0"/>
            <a:r>
              <a:rPr lang="en-US"/>
              <a:t>Quote Author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146157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429768"/>
            <a:ext cx="10890374" cy="1627632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768" y="3264408"/>
            <a:ext cx="10890374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38B47-093E-417D-A1C3-81EEF797AC6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557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27318"/>
            <a:ext cx="8430768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768" y="3622673"/>
            <a:ext cx="8430768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0925D-4314-49E4-A383-289640FEB5E3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1476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7" y="294248"/>
            <a:ext cx="11164825" cy="9584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78C515B-8D5A-0268-9044-7B2013C87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9767" y="2020825"/>
            <a:ext cx="5212208" cy="42847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C7061A-8ED7-8B72-BD2B-2DF67F8C7A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622" y="2020822"/>
            <a:ext cx="5212208" cy="4284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C59E0-667A-459A-BBD1-70DA72C3C576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01624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276166"/>
            <a:ext cx="11164824" cy="976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767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211279F-0D05-3637-19CD-29468F4DD2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0213" y="2021134"/>
            <a:ext cx="5211762" cy="43431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82512" y="1380744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1B170DE-636A-B1A9-2EAB-C426DBFB3E5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1750" y="2020888"/>
            <a:ext cx="5213350" cy="4343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CC00B-2F01-4379-B0FD-8DA094C16FA4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766931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57784"/>
            <a:ext cx="3713996" cy="221231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29767" y="2826137"/>
            <a:ext cx="3310128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FA23F0E6-EDAF-3A7F-5EC8-F911E9AE48E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02843" y="0"/>
            <a:ext cx="7689157" cy="6399152"/>
          </a:xfrm>
          <a:custGeom>
            <a:avLst/>
            <a:gdLst>
              <a:gd name="connsiteX0" fmla="*/ 0 w 7689157"/>
              <a:gd name="connsiteY0" fmla="*/ 0 h 6399152"/>
              <a:gd name="connsiteX1" fmla="*/ 7689157 w 7689157"/>
              <a:gd name="connsiteY1" fmla="*/ 0 h 6399152"/>
              <a:gd name="connsiteX2" fmla="*/ 7689157 w 7689157"/>
              <a:gd name="connsiteY2" fmla="*/ 6399152 h 6399152"/>
              <a:gd name="connsiteX3" fmla="*/ 578440 w 7689157"/>
              <a:gd name="connsiteY3" fmla="*/ 6399152 h 6399152"/>
              <a:gd name="connsiteX4" fmla="*/ 0 w 7689157"/>
              <a:gd name="connsiteY4" fmla="*/ 5820712 h 63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89157" h="6399152">
                <a:moveTo>
                  <a:pt x="0" y="0"/>
                </a:moveTo>
                <a:lnTo>
                  <a:pt x="7689157" y="0"/>
                </a:lnTo>
                <a:lnTo>
                  <a:pt x="7689157" y="6399152"/>
                </a:lnTo>
                <a:lnTo>
                  <a:pt x="578440" y="6399152"/>
                </a:lnTo>
                <a:cubicBezTo>
                  <a:pt x="258976" y="6399152"/>
                  <a:pt x="0" y="6140176"/>
                  <a:pt x="0" y="5820712"/>
                </a:cubicBezTo>
                <a:close/>
              </a:path>
            </a:pathLst>
          </a:cu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9F103-9E7C-4D5A-827C-0D2D66EE1CD2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30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173" y="285210"/>
            <a:ext cx="10653578" cy="9651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172" y="1384847"/>
            <a:ext cx="10653579" cy="49051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1172" y="6490524"/>
            <a:ext cx="2841959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072E1B28-DB45-4001-B295-7D7933E04419}" type="datetime1">
              <a:rPr lang="en-US" smtClean="0"/>
              <a:t>11/17/2025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93370" y="6490524"/>
            <a:ext cx="2662834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8431" y="6490524"/>
            <a:ext cx="457200" cy="336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4C450F2-3BB4-4AE4-8A35-A9D7AEA4C85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04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FE7FE-8C34-4ECC-3DF9-4AB54C67E6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172" y="3425399"/>
            <a:ext cx="7685140" cy="2621154"/>
          </a:xfrm>
        </p:spPr>
        <p:txBody>
          <a:bodyPr anchor="b">
            <a:normAutofit/>
          </a:bodyPr>
          <a:lstStyle/>
          <a:p>
            <a:r>
              <a:rPr lang="en-US" sz="3600" dirty="0" err="1"/>
              <a:t>Sistem</a:t>
            </a:r>
            <a:r>
              <a:rPr lang="en-US" sz="3600" dirty="0"/>
              <a:t> </a:t>
            </a:r>
            <a:r>
              <a:rPr lang="en-US" sz="3600" dirty="0" err="1"/>
              <a:t>programari</a:t>
            </a:r>
            <a:r>
              <a:rPr lang="en-US" sz="3600" dirty="0"/>
              <a:t> </a:t>
            </a:r>
            <a:r>
              <a:rPr lang="en-US" sz="3600" dirty="0" err="1"/>
              <a:t>ghișeu</a:t>
            </a:r>
            <a:r>
              <a:rPr lang="en-US" sz="3600" dirty="0"/>
              <a:t> – </a:t>
            </a:r>
            <a:r>
              <a:rPr lang="en-US" sz="3600"/>
              <a:t>MILESTONE 2</a:t>
            </a:r>
            <a:endParaRPr lang="en-US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7DC78-E95D-36D8-37B4-954F760F5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172" y="415057"/>
            <a:ext cx="9620504" cy="1414091"/>
          </a:xfrm>
        </p:spPr>
        <p:txBody>
          <a:bodyPr>
            <a:noAutofit/>
          </a:bodyPr>
          <a:lstStyle/>
          <a:p>
            <a:r>
              <a:rPr lang="en-US" sz="1200" dirty="0"/>
              <a:t>SASPS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Mihalcea Marius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Lebada</a:t>
            </a:r>
            <a:r>
              <a:rPr lang="en-US" sz="1200" dirty="0"/>
              <a:t> Daria-Cristiana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Dragomir Andrei-Mihai</a:t>
            </a:r>
          </a:p>
          <a:p>
            <a:br>
              <a:rPr lang="en-US" sz="1200" dirty="0"/>
            </a:br>
            <a:endParaRPr lang="en-GB" sz="1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A6946-5301-9D71-C6E1-BE960FCED8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04EF954-66B1-4168-AF40-97F3DAF43FC4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45D028-EBE7-D999-830F-695590AF6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29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3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B0BE5-5AD4-ED9A-8847-2DE6F6B50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700" b="0" kern="1200" cap="all" baseline="0" dirty="0">
                <a:latin typeface="+mj-lt"/>
                <a:ea typeface="+mj-ea"/>
                <a:cs typeface="+mj-cs"/>
              </a:rPr>
              <a:t>Status </a:t>
            </a:r>
            <a:r>
              <a:rPr lang="en-US" sz="2700" b="0" kern="1200" cap="all" baseline="0" dirty="0" err="1">
                <a:latin typeface="+mj-lt"/>
                <a:ea typeface="+mj-ea"/>
                <a:cs typeface="+mj-cs"/>
              </a:rPr>
              <a:t>curent</a:t>
            </a:r>
            <a:endParaRPr lang="en-US" sz="2700" b="0" kern="1200" cap="all" baseline="0" dirty="0">
              <a:latin typeface="+mj-lt"/>
              <a:ea typeface="+mj-ea"/>
              <a:cs typeface="+mj-cs"/>
            </a:endParaRPr>
          </a:p>
        </p:txBody>
      </p:sp>
      <p:pic>
        <p:nvPicPr>
          <p:cNvPr id="7" name="Content Placeholder 6" descr="Abstract illustration of software architecture, code patterns, and collaboration among developers">
            <a:extLst>
              <a:ext uri="{FF2B5EF4-FFF2-40B4-BE49-F238E27FC236}">
                <a16:creationId xmlns:a16="http://schemas.microsoft.com/office/drawing/2014/main" id="{AFF56C43-4D61-4E13-91AE-72D6607E7B6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20067" r="2646" b="3"/>
          <a:stretch>
            <a:fillRect/>
          </a:stretch>
        </p:blipFill>
        <p:spPr>
          <a:xfrm>
            <a:off x="20" y="2293496"/>
            <a:ext cx="5285212" cy="4564504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495C17-1007-48CE-AFBD-88BCC18859A1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096000" y="549275"/>
            <a:ext cx="5585925" cy="578326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dirty="0" err="1"/>
              <a:t>Implementare</a:t>
            </a:r>
            <a:r>
              <a:rPr lang="en-GB" b="1" dirty="0"/>
              <a:t> de </a:t>
            </a:r>
            <a:r>
              <a:rPr lang="en-GB" b="1" dirty="0" err="1"/>
              <a:t>bază</a:t>
            </a:r>
            <a:r>
              <a:rPr lang="en-GB" b="1" dirty="0"/>
              <a:t> cu </a:t>
            </a:r>
            <a:r>
              <a:rPr lang="en-GB" b="1" dirty="0" err="1"/>
              <a:t>controllere</a:t>
            </a:r>
            <a:r>
              <a:rPr lang="en-GB" b="1" dirty="0"/>
              <a:t> </a:t>
            </a:r>
            <a:r>
              <a:rPr lang="en-GB" b="1" dirty="0" err="1"/>
              <a:t>pentru</a:t>
            </a:r>
            <a:r>
              <a:rPr lang="en-GB" b="1" dirty="0"/>
              <a:t>: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 err="1"/>
              <a:t>AppointmentController</a:t>
            </a:r>
            <a:endParaRPr lang="en-GB" b="1" dirty="0"/>
          </a:p>
          <a:p>
            <a:r>
              <a:rPr lang="en-GB" dirty="0" err="1"/>
              <a:t>Creare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gestionare</a:t>
            </a:r>
            <a:r>
              <a:rPr lang="en-GB" dirty="0"/>
              <a:t> </a:t>
            </a:r>
            <a:r>
              <a:rPr lang="en-GB" dirty="0" err="1"/>
              <a:t>programări</a:t>
            </a:r>
            <a:endParaRPr lang="en-GB" dirty="0"/>
          </a:p>
          <a:p>
            <a:r>
              <a:rPr lang="en-GB" dirty="0" err="1"/>
              <a:t>Verificare</a:t>
            </a:r>
            <a:r>
              <a:rPr lang="en-GB" dirty="0"/>
              <a:t> </a:t>
            </a:r>
            <a:r>
              <a:rPr lang="en-GB" dirty="0" err="1"/>
              <a:t>disponibilitate</a:t>
            </a:r>
            <a:endParaRPr lang="en-GB" dirty="0"/>
          </a:p>
          <a:p>
            <a:r>
              <a:rPr lang="en-GB" dirty="0" err="1"/>
              <a:t>Statistici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raportare</a:t>
            </a:r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 err="1"/>
              <a:t>InstitutionController</a:t>
            </a:r>
            <a:endParaRPr lang="en-GB" b="1" dirty="0"/>
          </a:p>
          <a:p>
            <a:r>
              <a:rPr lang="en-GB" dirty="0"/>
              <a:t>CRUD </a:t>
            </a:r>
            <a:r>
              <a:rPr lang="en-GB" dirty="0" err="1"/>
              <a:t>operații</a:t>
            </a:r>
            <a:r>
              <a:rPr lang="en-GB" dirty="0"/>
              <a:t> </a:t>
            </a:r>
            <a:r>
              <a:rPr lang="en-GB" dirty="0" err="1"/>
              <a:t>pentru</a:t>
            </a:r>
            <a:r>
              <a:rPr lang="en-GB" dirty="0"/>
              <a:t> </a:t>
            </a:r>
            <a:r>
              <a:rPr lang="en-GB" dirty="0" err="1"/>
              <a:t>instituții</a:t>
            </a:r>
            <a:endParaRPr lang="en-GB" dirty="0"/>
          </a:p>
          <a:p>
            <a:r>
              <a:rPr lang="en-GB" dirty="0" err="1"/>
              <a:t>Gestionare</a:t>
            </a:r>
            <a:r>
              <a:rPr lang="en-GB" dirty="0"/>
              <a:t> </a:t>
            </a:r>
            <a:r>
              <a:rPr lang="en-GB" dirty="0" err="1"/>
              <a:t>tipuri</a:t>
            </a:r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 err="1"/>
              <a:t>UserController</a:t>
            </a:r>
            <a:endParaRPr lang="en-GB" b="1" dirty="0"/>
          </a:p>
          <a:p>
            <a:r>
              <a:rPr lang="en-GB" dirty="0" err="1"/>
              <a:t>Înregistrare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gestionare</a:t>
            </a:r>
            <a:r>
              <a:rPr lang="en-GB" dirty="0"/>
              <a:t> </a:t>
            </a:r>
            <a:r>
              <a:rPr lang="en-GB" dirty="0" err="1"/>
              <a:t>utilizatori</a:t>
            </a:r>
            <a:endParaRPr lang="en-GB" dirty="0"/>
          </a:p>
          <a:p>
            <a:r>
              <a:rPr lang="en-GB" dirty="0" err="1"/>
              <a:t>Istoric</a:t>
            </a:r>
            <a:r>
              <a:rPr lang="en-GB" dirty="0"/>
              <a:t> </a:t>
            </a:r>
            <a:r>
              <a:rPr lang="en-GB" dirty="0" err="1"/>
              <a:t>programări</a:t>
            </a:r>
            <a:r>
              <a:rPr lang="en-GB" dirty="0"/>
              <a:t> per client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79A447-3EFB-D6EE-25F7-A4D44ECC49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9AE37-D6B8-D189-654F-EEBC76FED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6445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8A829-5A2E-085C-239D-31835728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17B7D-9A4B-B788-9AF0-222F6E13C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700" b="0" kern="1200" cap="all" baseline="0" dirty="0">
                <a:latin typeface="+mj-lt"/>
                <a:ea typeface="+mj-ea"/>
                <a:cs typeface="+mj-cs"/>
              </a:rPr>
              <a:t>Status </a:t>
            </a:r>
            <a:r>
              <a:rPr lang="en-US" sz="2700" b="0" kern="1200" cap="all" baseline="0" dirty="0" err="1">
                <a:latin typeface="+mj-lt"/>
                <a:ea typeface="+mj-ea"/>
                <a:cs typeface="+mj-cs"/>
              </a:rPr>
              <a:t>curent</a:t>
            </a:r>
            <a:endParaRPr lang="en-US" sz="2700" b="0" kern="1200" cap="all" baseline="0" dirty="0">
              <a:latin typeface="+mj-lt"/>
              <a:ea typeface="+mj-ea"/>
              <a:cs typeface="+mj-cs"/>
            </a:endParaRPr>
          </a:p>
        </p:txBody>
      </p:sp>
      <p:pic>
        <p:nvPicPr>
          <p:cNvPr id="7" name="Content Placeholder 6" descr="Abstract illustration of software architecture, code patterns, and collaboration among developers">
            <a:extLst>
              <a:ext uri="{FF2B5EF4-FFF2-40B4-BE49-F238E27FC236}">
                <a16:creationId xmlns:a16="http://schemas.microsoft.com/office/drawing/2014/main" id="{CC69DE8A-6C5D-FD3E-2AFE-D281412BB40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20067" r="2646" b="3"/>
          <a:stretch>
            <a:fillRect/>
          </a:stretch>
        </p:blipFill>
        <p:spPr>
          <a:xfrm>
            <a:off x="20" y="2293496"/>
            <a:ext cx="5285212" cy="4564504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4B0079-E929-813F-30D3-7A855B9AF2EA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708592" y="549275"/>
            <a:ext cx="6195700" cy="5783263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GB" b="1" dirty="0"/>
          </a:p>
          <a:p>
            <a:r>
              <a:rPr lang="en-GB" b="1" dirty="0"/>
              <a:t>PostgreSQL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Persistență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robustă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pentru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programări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și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utilizatori</a:t>
            </a:r>
            <a:endParaRPr lang="en-GB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Relații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între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entități</a:t>
            </a:r>
            <a:r>
              <a:rPr lang="en-GB" dirty="0">
                <a:effectLst/>
              </a:rPr>
              <a:t> (User - Appointment - Institution)</a:t>
            </a:r>
          </a:p>
          <a:p>
            <a:endParaRPr lang="en-GB" dirty="0">
              <a:effectLst/>
            </a:endParaRPr>
          </a:p>
          <a:p>
            <a:r>
              <a:rPr lang="en-GB" b="1" dirty="0">
                <a:effectLst/>
              </a:rPr>
              <a:t>Volume </a:t>
            </a:r>
            <a:r>
              <a:rPr lang="en-GB" b="1" dirty="0" err="1">
                <a:effectLst/>
              </a:rPr>
              <a:t>persistente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pentru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păstrarea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datelor</a:t>
            </a:r>
            <a:endParaRPr lang="en-GB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SonarQube </a:t>
            </a:r>
            <a:r>
              <a:rPr lang="en-GB" dirty="0" err="1"/>
              <a:t>pentru</a:t>
            </a:r>
            <a:r>
              <a:rPr lang="en-GB" dirty="0"/>
              <a:t> Quality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Analiza </a:t>
            </a:r>
            <a:r>
              <a:rPr lang="en-GB" dirty="0" err="1">
                <a:effectLst/>
              </a:rPr>
              <a:t>calității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codului</a:t>
            </a:r>
            <a:r>
              <a:rPr lang="en-GB" dirty="0">
                <a:effectLst/>
              </a:rPr>
              <a:t> </a:t>
            </a:r>
            <a:r>
              <a:rPr lang="en-GB" dirty="0" err="1">
                <a:effectLst/>
              </a:rPr>
              <a:t>în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timp</a:t>
            </a:r>
            <a:r>
              <a:rPr lang="en-GB" dirty="0">
                <a:effectLst/>
              </a:rPr>
              <a:t> real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Metrici</a:t>
            </a:r>
            <a:r>
              <a:rPr lang="en-GB" dirty="0">
                <a:effectLst/>
              </a:rPr>
              <a:t> automate: complexity, duplications, maintainability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effectLst/>
            </a:endParaRPr>
          </a:p>
          <a:p>
            <a:r>
              <a:rPr lang="en-GB" b="1" dirty="0" err="1"/>
              <a:t>Containerizare</a:t>
            </a:r>
            <a:r>
              <a:rPr lang="en-GB" b="1" dirty="0"/>
              <a:t> </a:t>
            </a:r>
            <a:r>
              <a:rPr lang="en-GB" b="1" dirty="0" err="1"/>
              <a:t>completă</a:t>
            </a:r>
            <a:endParaRPr lang="en-GB" b="1" dirty="0"/>
          </a:p>
          <a:p>
            <a:br>
              <a:rPr lang="en-GB" dirty="0"/>
            </a:b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45C75-87E0-0DB1-B6DC-6A2DEA60B2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54BC9-2E57-824A-9916-5BC1B919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85696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5DACD-D4E9-D868-10B7-B7464C265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66" y="176214"/>
            <a:ext cx="5249683" cy="15073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 b="0" kern="1200" cap="all" baseline="0" dirty="0" err="1">
                <a:latin typeface="+mj-lt"/>
                <a:ea typeface="+mj-ea"/>
                <a:cs typeface="+mj-cs"/>
              </a:rPr>
              <a:t>Lipsa</a:t>
            </a:r>
            <a:r>
              <a:rPr lang="en-US" sz="2700" b="0" kern="1200" cap="all" baseline="0" dirty="0">
                <a:latin typeface="+mj-lt"/>
                <a:ea typeface="+mj-ea"/>
                <a:cs typeface="+mj-cs"/>
              </a:rPr>
              <a:t> design patterns</a:t>
            </a: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endParaRPr lang="en-US" sz="2700" b="0" kern="1200" cap="all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6691B0-7341-49BF-89C9-F8A2CB47CC65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8321040" y="2276856"/>
            <a:ext cx="3401568" cy="404164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en-GB" sz="13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F448-4A1A-4625-40BD-5051705F0D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7C231-096C-0EDB-05D4-93C4EFA6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C4A9-0EC8-3036-CF7D-007A11C8F69E}"/>
              </a:ext>
            </a:extLst>
          </p:cNvPr>
          <p:cNvSpPr txBox="1"/>
          <p:nvPr/>
        </p:nvSpPr>
        <p:spPr>
          <a:xfrm>
            <a:off x="512748" y="2170632"/>
            <a:ext cx="102293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AppointmentService</a:t>
            </a:r>
            <a:r>
              <a:rPr lang="en-GB" b="1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Logica </a:t>
            </a:r>
            <a:r>
              <a:rPr lang="en-GB" dirty="0" err="1"/>
              <a:t>complexa</a:t>
            </a:r>
            <a:r>
              <a:rPr lang="en-GB" dirty="0"/>
              <a:t> hardcoded </a:t>
            </a:r>
            <a:r>
              <a:rPr lang="en-GB" dirty="0" err="1"/>
              <a:t>pentru</a:t>
            </a:r>
            <a:r>
              <a:rPr lang="en-GB" dirty="0"/>
              <a:t> </a:t>
            </a:r>
            <a:r>
              <a:rPr lang="en-GB" dirty="0" err="1"/>
              <a:t>validări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If-else chains </a:t>
            </a:r>
            <a:r>
              <a:rPr lang="en-GB" dirty="0" err="1"/>
              <a:t>pentru</a:t>
            </a:r>
            <a:r>
              <a:rPr lang="en-GB" dirty="0"/>
              <a:t> </a:t>
            </a:r>
            <a:r>
              <a:rPr lang="en-GB" dirty="0" err="1"/>
              <a:t>diferite</a:t>
            </a:r>
            <a:r>
              <a:rPr lang="en-GB" dirty="0"/>
              <a:t> </a:t>
            </a:r>
            <a:r>
              <a:rPr lang="en-GB" dirty="0" err="1"/>
              <a:t>tipuri</a:t>
            </a:r>
            <a:r>
              <a:rPr lang="en-GB" dirty="0"/>
              <a:t> </a:t>
            </a:r>
            <a:r>
              <a:rPr lang="en-GB" dirty="0" err="1"/>
              <a:t>instituții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Calculuri</a:t>
            </a:r>
            <a:r>
              <a:rPr lang="en-GB" dirty="0"/>
              <a:t> de </a:t>
            </a:r>
            <a:r>
              <a:rPr lang="en-GB" dirty="0" err="1"/>
              <a:t>disponibilitate</a:t>
            </a:r>
            <a:r>
              <a:rPr lang="en-GB" dirty="0"/>
              <a:t> cu </a:t>
            </a:r>
            <a:r>
              <a:rPr lang="en-GB" dirty="0" err="1"/>
              <a:t>algoritmi</a:t>
            </a:r>
            <a:r>
              <a:rPr lang="en-GB" dirty="0"/>
              <a:t> </a:t>
            </a:r>
            <a:r>
              <a:rPr lang="en-GB" dirty="0" err="1"/>
              <a:t>fixi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Creare</a:t>
            </a:r>
            <a:r>
              <a:rPr lang="en-GB" dirty="0"/>
              <a:t> </a:t>
            </a:r>
            <a:r>
              <a:rPr lang="en-GB" dirty="0" err="1"/>
              <a:t>directă</a:t>
            </a:r>
            <a:r>
              <a:rPr lang="en-GB" dirty="0"/>
              <a:t> de </a:t>
            </a:r>
            <a:r>
              <a:rPr lang="en-GB" dirty="0" err="1"/>
              <a:t>obiecte</a:t>
            </a:r>
            <a:r>
              <a:rPr lang="en-GB" dirty="0"/>
              <a:t> </a:t>
            </a:r>
            <a:r>
              <a:rPr lang="en-GB" dirty="0" err="1"/>
              <a:t>fără</a:t>
            </a:r>
            <a:r>
              <a:rPr lang="en-GB" dirty="0"/>
              <a:t> </a:t>
            </a:r>
            <a:r>
              <a:rPr lang="en-GB" dirty="0" err="1"/>
              <a:t>abstracție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 err="1"/>
              <a:t>NotificationService</a:t>
            </a: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Switch-case hardcoded: email/SMS/push per tip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Logică</a:t>
            </a:r>
            <a:r>
              <a:rPr lang="en-GB" dirty="0"/>
              <a:t> </a:t>
            </a:r>
            <a:r>
              <a:rPr lang="en-GB" dirty="0" err="1"/>
              <a:t>duplicată</a:t>
            </a:r>
            <a:r>
              <a:rPr lang="en-GB" dirty="0"/>
              <a:t> </a:t>
            </a:r>
            <a:r>
              <a:rPr lang="en-GB" dirty="0" err="1"/>
              <a:t>pentru</a:t>
            </a:r>
            <a:r>
              <a:rPr lang="en-GB" dirty="0"/>
              <a:t> </a:t>
            </a:r>
            <a:r>
              <a:rPr lang="en-GB" dirty="0" err="1"/>
              <a:t>formatarea</a:t>
            </a:r>
            <a:r>
              <a:rPr lang="en-GB" dirty="0"/>
              <a:t> </a:t>
            </a:r>
            <a:r>
              <a:rPr lang="en-GB" dirty="0" err="1"/>
              <a:t>mesajelor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Imposibil</a:t>
            </a:r>
            <a:r>
              <a:rPr lang="en-GB" dirty="0"/>
              <a:t> de </a:t>
            </a:r>
            <a:r>
              <a:rPr lang="en-GB" dirty="0" err="1"/>
              <a:t>extins</a:t>
            </a:r>
            <a:r>
              <a:rPr lang="en-GB" dirty="0"/>
              <a:t> cu </a:t>
            </a:r>
            <a:r>
              <a:rPr lang="en-GB" dirty="0" err="1"/>
              <a:t>noi</a:t>
            </a:r>
            <a:r>
              <a:rPr lang="en-GB" dirty="0"/>
              <a:t> </a:t>
            </a:r>
            <a:r>
              <a:rPr lang="en-GB" dirty="0" err="1"/>
              <a:t>canale</a:t>
            </a:r>
            <a:r>
              <a:rPr lang="en-GB" dirty="0"/>
              <a:t> de </a:t>
            </a:r>
            <a:r>
              <a:rPr lang="en-GB" dirty="0" err="1"/>
              <a:t>notificare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0353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2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DF279-C947-8432-55F5-E1FA66DE6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18071-49AF-F848-AA0B-94FF42FD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66" y="176214"/>
            <a:ext cx="5249683" cy="15073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 b="0" kern="1200" cap="all" baseline="0" dirty="0">
                <a:latin typeface="+mj-lt"/>
                <a:ea typeface="+mj-ea"/>
                <a:cs typeface="+mj-cs"/>
              </a:rPr>
              <a:t>design patterns PROPUSE</a:t>
            </a: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endParaRPr lang="en-US" sz="2700" b="0" kern="1200" cap="all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A8BC3-8834-25A2-643E-4C8B4B00C82D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8321040" y="2276856"/>
            <a:ext cx="3401568" cy="404164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en-GB" sz="13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00185-C12C-6132-DDD5-26292D23BB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20894-EE72-6E1F-2CEA-01C5B3940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77FDF4-E104-1172-CA04-3D68EE1DC16E}"/>
              </a:ext>
            </a:extLst>
          </p:cNvPr>
          <p:cNvSpPr txBox="1"/>
          <p:nvPr/>
        </p:nvSpPr>
        <p:spPr>
          <a:xfrm>
            <a:off x="512748" y="2170632"/>
            <a:ext cx="1022931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Factory Method Pattern</a:t>
            </a:r>
          </a:p>
          <a:p>
            <a:br>
              <a:rPr lang="en-GB" dirty="0"/>
            </a:br>
            <a:r>
              <a:rPr lang="en-GB" dirty="0" err="1"/>
              <a:t>Acum</a:t>
            </a:r>
            <a:r>
              <a:rPr lang="en-GB" dirty="0"/>
              <a:t>: new Appointment(), new Institution() direct </a:t>
            </a:r>
            <a:r>
              <a:rPr lang="en-GB" dirty="0" err="1"/>
              <a:t>în</a:t>
            </a:r>
            <a:r>
              <a:rPr lang="en-GB" dirty="0"/>
              <a:t> </a:t>
            </a:r>
            <a:r>
              <a:rPr lang="en-GB" dirty="0" err="1"/>
              <a:t>servicii</a:t>
            </a:r>
            <a:endParaRPr lang="en-GB" dirty="0"/>
          </a:p>
          <a:p>
            <a:r>
              <a:rPr lang="en-GB" dirty="0" err="1"/>
              <a:t>Viitor</a:t>
            </a:r>
            <a:r>
              <a:rPr lang="en-GB" dirty="0"/>
              <a:t>: </a:t>
            </a:r>
            <a:r>
              <a:rPr lang="en-GB" dirty="0" err="1"/>
              <a:t>InstitutionFactory</a:t>
            </a:r>
            <a:r>
              <a:rPr lang="en-GB" dirty="0"/>
              <a:t>, </a:t>
            </a:r>
            <a:r>
              <a:rPr lang="en-GB" dirty="0" err="1"/>
              <a:t>AppointmentFactory</a:t>
            </a:r>
            <a:r>
              <a:rPr lang="en-GB" dirty="0"/>
              <a:t> per tip</a:t>
            </a:r>
          </a:p>
          <a:p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Strategy Pattern</a:t>
            </a:r>
          </a:p>
          <a:p>
            <a:r>
              <a:rPr lang="en-GB" dirty="0" err="1"/>
              <a:t>Acum</a:t>
            </a:r>
            <a:r>
              <a:rPr lang="en-GB" dirty="0"/>
              <a:t>: if(type == “type1") {...} else if(type == “type2")</a:t>
            </a:r>
          </a:p>
          <a:p>
            <a:r>
              <a:rPr lang="en-GB" dirty="0" err="1"/>
              <a:t>Viitor</a:t>
            </a:r>
            <a:r>
              <a:rPr lang="en-GB" dirty="0"/>
              <a:t>: </a:t>
            </a:r>
            <a:r>
              <a:rPr lang="en-GB" dirty="0" err="1"/>
              <a:t>AvailabilityStrategy</a:t>
            </a:r>
            <a:r>
              <a:rPr lang="en-GB" dirty="0"/>
              <a:t>, </a:t>
            </a:r>
            <a:r>
              <a:rPr lang="en-GB" dirty="0" err="1"/>
              <a:t>ValidationStrategy</a:t>
            </a:r>
            <a:r>
              <a:rPr lang="en-GB" dirty="0"/>
              <a:t> per </a:t>
            </a:r>
            <a:r>
              <a:rPr lang="en-GB" dirty="0" err="1"/>
              <a:t>instituție</a:t>
            </a:r>
            <a:endParaRPr lang="en-GB" dirty="0"/>
          </a:p>
          <a:p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26729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2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BE6DC-22C9-C49B-A797-258374425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7AA83-0B67-FDBE-497F-8ED16B7E2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366" y="176214"/>
            <a:ext cx="5249683" cy="15073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700" b="0" kern="1200" cap="all" baseline="0" dirty="0">
                <a:latin typeface="+mj-lt"/>
                <a:ea typeface="+mj-ea"/>
                <a:cs typeface="+mj-cs"/>
              </a:rPr>
              <a:t>design patterns PROPUSE</a:t>
            </a: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br>
              <a:rPr lang="en-US" sz="2700" b="0" kern="1200" cap="all" baseline="0" dirty="0">
                <a:latin typeface="+mj-lt"/>
                <a:ea typeface="+mj-ea"/>
                <a:cs typeface="+mj-cs"/>
              </a:rPr>
            </a:br>
            <a:endParaRPr lang="en-US" sz="2700" b="0" kern="1200" cap="all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75ED7-B40D-BF6F-D475-B216BBFB9907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8321040" y="2276856"/>
            <a:ext cx="3401568" cy="404164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en-GB" sz="13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AB254-B6C3-DA14-9A75-5E2CE3C9ECF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B5D20-A1F8-B470-E55F-4EDED92E5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CCD400-B6AD-4725-BCBF-456EF1B089F1}"/>
              </a:ext>
            </a:extLst>
          </p:cNvPr>
          <p:cNvSpPr txBox="1"/>
          <p:nvPr/>
        </p:nvSpPr>
        <p:spPr>
          <a:xfrm>
            <a:off x="512748" y="2170632"/>
            <a:ext cx="1022931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Adapter Pattern</a:t>
            </a:r>
          </a:p>
          <a:p>
            <a:r>
              <a:rPr lang="en-GB" dirty="0" err="1"/>
              <a:t>Acum</a:t>
            </a:r>
            <a:r>
              <a:rPr lang="en-GB" dirty="0"/>
              <a:t>: hardcoded email/SMS </a:t>
            </a:r>
            <a:r>
              <a:rPr lang="en-GB" dirty="0" err="1"/>
              <a:t>în</a:t>
            </a:r>
            <a:r>
              <a:rPr lang="en-GB" dirty="0"/>
              <a:t> </a:t>
            </a:r>
            <a:r>
              <a:rPr lang="en-GB" dirty="0" err="1"/>
              <a:t>NotificationService</a:t>
            </a:r>
            <a:r>
              <a:rPr lang="en-GB" dirty="0"/>
              <a:t>  </a:t>
            </a:r>
          </a:p>
          <a:p>
            <a:r>
              <a:rPr lang="en-GB" dirty="0" err="1"/>
              <a:t>Viitor</a:t>
            </a:r>
            <a:r>
              <a:rPr lang="en-GB" dirty="0"/>
              <a:t>: </a:t>
            </a:r>
            <a:r>
              <a:rPr lang="en-GB" dirty="0" err="1"/>
              <a:t>EmailAdapter</a:t>
            </a:r>
            <a:r>
              <a:rPr lang="en-GB" dirty="0"/>
              <a:t>, </a:t>
            </a:r>
            <a:r>
              <a:rPr lang="en-GB" dirty="0" err="1"/>
              <a:t>SMSAdapter</a:t>
            </a:r>
            <a:r>
              <a:rPr lang="en-GB" dirty="0"/>
              <a:t>, </a:t>
            </a:r>
            <a:r>
              <a:rPr lang="en-GB" dirty="0" err="1"/>
              <a:t>PushAdapter</a:t>
            </a:r>
            <a:endParaRPr lang="en-GB" dirty="0"/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Facade Pattern</a:t>
            </a:r>
          </a:p>
          <a:p>
            <a:br>
              <a:rPr lang="en-GB" dirty="0"/>
            </a:br>
            <a:r>
              <a:rPr lang="en-GB" dirty="0" err="1"/>
              <a:t>Acum</a:t>
            </a:r>
            <a:r>
              <a:rPr lang="en-GB" dirty="0"/>
              <a:t>: Controller </a:t>
            </a:r>
            <a:r>
              <a:rPr lang="en-GB" dirty="0" err="1"/>
              <a:t>apelează</a:t>
            </a:r>
            <a:r>
              <a:rPr lang="en-GB" dirty="0"/>
              <a:t> direct multiple </a:t>
            </a:r>
            <a:r>
              <a:rPr lang="en-GB" dirty="0" err="1"/>
              <a:t>servicii</a:t>
            </a:r>
            <a:endParaRPr lang="en-GB" dirty="0"/>
          </a:p>
          <a:p>
            <a:r>
              <a:rPr lang="en-GB" dirty="0" err="1"/>
              <a:t>Viitor</a:t>
            </a:r>
            <a:r>
              <a:rPr lang="en-GB" dirty="0"/>
              <a:t>: </a:t>
            </a:r>
            <a:r>
              <a:rPr lang="en-GB" dirty="0" err="1"/>
              <a:t>AppointmentFacade</a:t>
            </a:r>
            <a:r>
              <a:rPr lang="en-GB" dirty="0"/>
              <a:t> care </a:t>
            </a:r>
            <a:r>
              <a:rPr lang="en-GB" dirty="0" err="1"/>
              <a:t>orchestrează</a:t>
            </a:r>
            <a:r>
              <a:rPr lang="en-GB" dirty="0"/>
              <a:t> </a:t>
            </a:r>
            <a:r>
              <a:rPr lang="en-GB" dirty="0" err="1"/>
              <a:t>toate</a:t>
            </a:r>
            <a:r>
              <a:rPr lang="en-GB" dirty="0"/>
              <a:t> </a:t>
            </a:r>
            <a:r>
              <a:rPr lang="en-GB" dirty="0" err="1"/>
              <a:t>operațiile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Observer Pattern</a:t>
            </a:r>
          </a:p>
          <a:p>
            <a:br>
              <a:rPr lang="en-GB" dirty="0"/>
            </a:br>
            <a:r>
              <a:rPr lang="en-GB" dirty="0" err="1"/>
              <a:t>Acum</a:t>
            </a:r>
            <a:r>
              <a:rPr lang="en-GB" dirty="0"/>
              <a:t>: </a:t>
            </a:r>
            <a:r>
              <a:rPr lang="en-GB" dirty="0" err="1"/>
              <a:t>appointmentService.save</a:t>
            </a:r>
            <a:r>
              <a:rPr lang="en-GB" dirty="0"/>
              <a:t>() → </a:t>
            </a:r>
            <a:r>
              <a:rPr lang="en-GB" dirty="0" err="1"/>
              <a:t>notificationService.send</a:t>
            </a:r>
            <a:r>
              <a:rPr lang="en-GB" dirty="0"/>
              <a:t>()</a:t>
            </a:r>
          </a:p>
          <a:p>
            <a:r>
              <a:rPr lang="en-GB" dirty="0" err="1"/>
              <a:t>Viitor</a:t>
            </a:r>
            <a:r>
              <a:rPr lang="en-GB" dirty="0"/>
              <a:t>: Event-driven: </a:t>
            </a:r>
            <a:r>
              <a:rPr lang="en-GB" dirty="0" err="1"/>
              <a:t>AppointmentCreated</a:t>
            </a:r>
            <a:r>
              <a:rPr lang="en-GB" dirty="0"/>
              <a:t> → </a:t>
            </a:r>
            <a:r>
              <a:rPr lang="en-GB" dirty="0" err="1"/>
              <a:t>NotificationListener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810824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 nodePh="1">
                                  <p:stCondLst>
                                    <p:cond delay="2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2FCA-1E81-21ED-CA2C-3342521E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1078992"/>
            <a:ext cx="3489846" cy="19476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Metrici</a:t>
            </a:r>
            <a:r>
              <a:rPr lang="en-US" sz="2800" b="0" kern="1200" cap="all" baseline="0" dirty="0">
                <a:latin typeface="+mj-lt"/>
                <a:ea typeface="+mj-ea"/>
                <a:cs typeface="+mj-cs"/>
              </a:rPr>
              <a:t> de </a:t>
            </a:r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calitate</a:t>
            </a:r>
            <a:r>
              <a:rPr lang="en-US" sz="2800" b="0" kern="1200" cap="all" baseline="0" dirty="0">
                <a:latin typeface="+mj-lt"/>
                <a:ea typeface="+mj-ea"/>
                <a:cs typeface="+mj-cs"/>
              </a:rPr>
              <a:t> </a:t>
            </a:r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folosind</a:t>
            </a:r>
            <a:r>
              <a:rPr lang="en-US" sz="2800" b="0" kern="1200" cap="all" baseline="0" dirty="0">
                <a:latin typeface="+mj-lt"/>
                <a:ea typeface="+mj-ea"/>
                <a:cs typeface="+mj-cs"/>
              </a:rPr>
              <a:t> SonarQube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E3DCA-86CF-4112-AE2F-0789E8D48BAA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8182341" y="3099816"/>
            <a:ext cx="3403106" cy="295351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400" dirty="0"/>
              <a:t>Am </a:t>
            </a:r>
            <a:r>
              <a:rPr lang="en-GB" sz="1400" dirty="0" err="1"/>
              <a:t>facut</a:t>
            </a:r>
            <a:r>
              <a:rPr lang="en-GB" sz="1400" dirty="0"/>
              <a:t> </a:t>
            </a:r>
            <a:r>
              <a:rPr lang="en-GB" sz="1400" dirty="0" err="1"/>
              <a:t>suportul</a:t>
            </a:r>
            <a:r>
              <a:rPr lang="en-GB" sz="1400" dirty="0"/>
              <a:t> </a:t>
            </a:r>
            <a:r>
              <a:rPr lang="en-GB" sz="1400" dirty="0" err="1"/>
              <a:t>pentru</a:t>
            </a:r>
            <a:r>
              <a:rPr lang="en-GB" sz="1400" dirty="0"/>
              <a:t> a </a:t>
            </a:r>
            <a:r>
              <a:rPr lang="en-GB" sz="1400" dirty="0" err="1"/>
              <a:t>folosi</a:t>
            </a:r>
            <a:r>
              <a:rPr lang="en-GB" sz="1400" dirty="0"/>
              <a:t> SonarQube in a genera </a:t>
            </a:r>
            <a:r>
              <a:rPr lang="en-GB" sz="1400" dirty="0" err="1"/>
              <a:t>metrici</a:t>
            </a:r>
            <a:r>
              <a:rPr lang="en-GB" sz="1400" dirty="0"/>
              <a:t> de </a:t>
            </a:r>
            <a:r>
              <a:rPr lang="en-GB" sz="1400" dirty="0" err="1"/>
              <a:t>calitate</a:t>
            </a:r>
            <a:r>
              <a:rPr lang="en-GB" sz="1400" dirty="0"/>
              <a:t> a </a:t>
            </a:r>
            <a:r>
              <a:rPr lang="en-GB" sz="1400" dirty="0" err="1"/>
              <a:t>codului</a:t>
            </a:r>
            <a:r>
              <a:rPr lang="en-GB" sz="1400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B8A6D-D4AE-D28F-CC18-83B94AD791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CC29C-AA53-2AD6-BA0F-16283D2B8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2DC483-AB1F-F69F-8277-DB3E5D534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78992"/>
            <a:ext cx="8182341" cy="368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7787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005BE-FE88-E419-403C-8CD6977D8A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04EF954-66B1-4168-AF40-97F3DAF43FC4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18219-8F81-E182-9CFC-5E25AE875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pic>
        <p:nvPicPr>
          <p:cNvPr id="3" name="Picture 2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51D988A7-FCB0-1374-33ED-1556B2FD0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2267"/>
            <a:ext cx="8726118" cy="404869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511F686-D982-8858-9A9E-D95EDAF7A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2154" y="1198940"/>
            <a:ext cx="3489846" cy="19476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Startul</a:t>
            </a:r>
            <a:r>
              <a:rPr lang="en-US" sz="2800" b="0" kern="1200" cap="all" baseline="0" dirty="0">
                <a:latin typeface="+mj-lt"/>
                <a:ea typeface="+mj-ea"/>
                <a:cs typeface="+mj-cs"/>
              </a:rPr>
              <a:t> </a:t>
            </a:r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ui-ului</a:t>
            </a:r>
            <a:endParaRPr lang="en-US" sz="2800" b="0" kern="1200" cap="all" baseline="0" dirty="0"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2853192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E18A2-5528-E12D-3682-1DE7720B7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465857-A1EE-DD72-6D99-34B2455AFF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04EF954-66B1-4168-AF40-97F3DAF43FC4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C015D-17A8-1C66-9BCE-FD3F36CFA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A49B8CD-6A38-C05B-22A7-65A518F4F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2154" y="1198940"/>
            <a:ext cx="3489846" cy="19476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Startul</a:t>
            </a:r>
            <a:r>
              <a:rPr lang="en-US" sz="2800" b="0" kern="1200" cap="all" baseline="0" dirty="0">
                <a:latin typeface="+mj-lt"/>
                <a:ea typeface="+mj-ea"/>
                <a:cs typeface="+mj-cs"/>
              </a:rPr>
              <a:t> </a:t>
            </a:r>
            <a:r>
              <a:rPr lang="en-US" sz="2800" b="0" kern="1200" cap="all" baseline="0" dirty="0" err="1">
                <a:latin typeface="+mj-lt"/>
                <a:ea typeface="+mj-ea"/>
                <a:cs typeface="+mj-cs"/>
              </a:rPr>
              <a:t>ui-ului</a:t>
            </a:r>
            <a:endParaRPr lang="en-US" sz="2800" b="0" kern="1200" cap="all" baseline="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EBD9AC-BC0F-7590-0C4A-870F77BAE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34"/>
            <a:ext cx="6992326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6506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FDEF2-7BDC-4462-5972-7B7A6F089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548639"/>
            <a:ext cx="4855464" cy="145389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kern="1200" cap="all" baseline="0" dirty="0" err="1">
                <a:latin typeface="+mj-lt"/>
                <a:ea typeface="+mj-ea"/>
                <a:cs typeface="+mj-cs"/>
              </a:rPr>
              <a:t>Impartirea</a:t>
            </a:r>
            <a:r>
              <a:rPr lang="en-US" b="0" kern="1200" cap="all" baseline="0" dirty="0">
                <a:latin typeface="+mj-lt"/>
                <a:ea typeface="+mj-ea"/>
                <a:cs typeface="+mj-cs"/>
              </a:rPr>
              <a:t> </a:t>
            </a:r>
            <a:r>
              <a:rPr lang="en-US" b="0" kern="1200" cap="all" baseline="0" dirty="0" err="1">
                <a:latin typeface="+mj-lt"/>
                <a:ea typeface="+mj-ea"/>
                <a:cs typeface="+mj-cs"/>
              </a:rPr>
              <a:t>sarcinilor</a:t>
            </a:r>
            <a:endParaRPr lang="en-US" b="0" kern="1200" cap="all" baseline="0" dirty="0">
              <a:latin typeface="+mj-lt"/>
              <a:ea typeface="+mj-ea"/>
              <a:cs typeface="+mj-cs"/>
            </a:endParaRPr>
          </a:p>
        </p:txBody>
      </p:sp>
      <p:pic>
        <p:nvPicPr>
          <p:cNvPr id="7" name="Content Placeholder 6" descr="Team members collaborating with laptops, charts, and documents in a professional workspace">
            <a:extLst>
              <a:ext uri="{FF2B5EF4-FFF2-40B4-BE49-F238E27FC236}">
                <a16:creationId xmlns:a16="http://schemas.microsoft.com/office/drawing/2014/main" id="{217884D9-783E-450B-89ED-A6B3DA950BD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1660" r="11053" b="3"/>
          <a:stretch>
            <a:fillRect/>
          </a:stretch>
        </p:blipFill>
        <p:spPr>
          <a:xfrm>
            <a:off x="20" y="2293496"/>
            <a:ext cx="5285212" cy="4564504"/>
          </a:xfrm>
          <a:prstGeom prst="rect">
            <a:avLst/>
          </a:prstGeom>
          <a:noFill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C2AC527-B536-4CD5-94C4-AF63B9916423}"/>
              </a:ext>
            </a:extLst>
          </p:cNvPr>
          <p:cNvSpPr txBox="1"/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096000" y="549275"/>
            <a:ext cx="5585925" cy="57832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600" dirty="0"/>
              <a:t>Marius – UI, controllers, SonarQube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600" dirty="0"/>
              <a:t>Daria – Database connection, models, Docker Compose</a:t>
            </a:r>
          </a:p>
          <a:p>
            <a:pPr marL="0" indent="0">
              <a:spcBef>
                <a:spcPts val="25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GB" sz="1600" dirty="0"/>
              <a:t>Andrei – Logica </a:t>
            </a:r>
            <a:r>
              <a:rPr lang="en-GB" sz="1600" dirty="0" err="1"/>
              <a:t>serviciilor</a:t>
            </a:r>
            <a:r>
              <a:rPr lang="en-GB" sz="1600" dirty="0"/>
              <a:t>, DTOs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B21D0-57DE-1902-434B-AD829E404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0" y="6492240"/>
            <a:ext cx="265176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CD050-06DE-E24C-1383-88D679F91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229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8A8C1-26FE-F615-2994-771E12113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768" y="1636776"/>
            <a:ext cx="10890374" cy="1627632"/>
          </a:xfrm>
        </p:spPr>
        <p:txBody>
          <a:bodyPr anchor="t">
            <a:normAutofit/>
          </a:bodyPr>
          <a:lstStyle/>
          <a:p>
            <a:r>
              <a:rPr lang="en-GB" sz="3400" dirty="0" err="1"/>
              <a:t>Multumim</a:t>
            </a:r>
            <a:r>
              <a:rPr lang="en-GB" sz="3400" dirty="0"/>
              <a:t>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4A305-9411-AD43-BDEA-47A21598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172" y="6490524"/>
            <a:ext cx="2841959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21D4C7-8630-4B98-978C-30388BBD4EE8}" type="datetime1">
              <a:rPr lang="en-US" smtClean="0"/>
              <a:pPr>
                <a:spcAft>
                  <a:spcPts val="600"/>
                </a:spcAft>
              </a:pPr>
              <a:t>11/17/2025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7F9DE-404F-6555-6D25-AF4757FE9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8431" y="6490524"/>
            <a:ext cx="457200" cy="336141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84C450F2-3BB4-4AE4-8A35-A9D7AEA4C850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3090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asisVTI">
  <a:themeElements>
    <a:clrScheme name="Oasis">
      <a:dk1>
        <a:srgbClr val="131313"/>
      </a:dk1>
      <a:lt1>
        <a:sysClr val="window" lastClr="FFFFFF"/>
      </a:lt1>
      <a:dk2>
        <a:srgbClr val="3D3C33"/>
      </a:dk2>
      <a:lt2>
        <a:srgbClr val="F0EDE6"/>
      </a:lt2>
      <a:accent1>
        <a:srgbClr val="A57361"/>
      </a:accent1>
      <a:accent2>
        <a:srgbClr val="BE8856"/>
      </a:accent2>
      <a:accent3>
        <a:srgbClr val="BD9075"/>
      </a:accent3>
      <a:accent4>
        <a:srgbClr val="939081"/>
      </a:accent4>
      <a:accent5>
        <a:srgbClr val="A16D4C"/>
      </a:accent5>
      <a:accent6>
        <a:srgbClr val="8C8662"/>
      </a:accent6>
      <a:hlink>
        <a:srgbClr val="A57361"/>
      </a:hlink>
      <a:folHlink>
        <a:srgbClr val="8C8662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asis_win32_DN_V3" id="{65F5DFDA-B6D8-4F37-85B8-E95C858FA146}" vid="{998F2FB7-179B-41D4-99FF-60A4C828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349</Words>
  <Application>Microsoft Office PowerPoint</Application>
  <PresentationFormat>Widescreen</PresentationFormat>
  <Paragraphs>112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Neue Haas Grotesk Text Pro</vt:lpstr>
      <vt:lpstr>OasisVTI</vt:lpstr>
      <vt:lpstr>Sistem programari ghișeu – MILESTONE 2</vt:lpstr>
      <vt:lpstr>Status curent</vt:lpstr>
      <vt:lpstr>Status curent</vt:lpstr>
      <vt:lpstr>Lipsa design patterns  </vt:lpstr>
      <vt:lpstr>design patterns PROPUSE  </vt:lpstr>
      <vt:lpstr>design patterns PROPUSE  </vt:lpstr>
      <vt:lpstr>Metrici de calitate folosind SonarQube</vt:lpstr>
      <vt:lpstr>Startul ui-ului</vt:lpstr>
      <vt:lpstr>Startul ui-ului</vt:lpstr>
      <vt:lpstr>Impartirea sarcinilor</vt:lpstr>
      <vt:lpstr>Multumim!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 Dragomir</dc:creator>
  <cp:lastModifiedBy>Andrei Dragomir</cp:lastModifiedBy>
  <cp:revision>3</cp:revision>
  <dcterms:created xsi:type="dcterms:W3CDTF">2025-11-17T15:36:35Z</dcterms:created>
  <dcterms:modified xsi:type="dcterms:W3CDTF">2025-11-17T17:57:44Z</dcterms:modified>
</cp:coreProperties>
</file>